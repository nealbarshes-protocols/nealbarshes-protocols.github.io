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1064" r:id="rId2"/>
    <p:sldId id="1065" r:id="rId3"/>
    <p:sldId id="284" r:id="rId4"/>
    <p:sldId id="1071" r:id="rId5"/>
    <p:sldId id="1070" r:id="rId6"/>
    <p:sldId id="10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a:srgbClr val="0F1F3D"/>
    <a:srgbClr val="FF6D6D"/>
    <a:srgbClr val="FFFF99"/>
    <a:srgbClr val="1A427D"/>
    <a:srgbClr val="01458C"/>
    <a:srgbClr val="81806B"/>
    <a:srgbClr val="568E8D"/>
    <a:srgbClr val="FEC880"/>
    <a:srgbClr val="C2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7AD4EC-A8F8-490F-AD0A-A15B70351E48}" v="85" dt="2026-06-22T20:49:09.1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468" autoAdjust="0"/>
    <p:restoredTop sz="36737" autoAdjust="0"/>
  </p:normalViewPr>
  <p:slideViewPr>
    <p:cSldViewPr snapToGrid="0">
      <p:cViewPr>
        <p:scale>
          <a:sx n="75" d="100"/>
          <a:sy n="75" d="100"/>
        </p:scale>
        <p:origin x="4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shes, Neal (HOU)" userId="00dc9a1f-2334-407b-96d9-5b34f80b01da" providerId="ADAL" clId="{171E045B-1E3B-4146-AB10-0FB07A63A88A}"/>
    <pc:docChg chg="undo custSel addSld delSld modSld sldOrd">
      <pc:chgData name="Barshes, Neal (HOU)" userId="00dc9a1f-2334-407b-96d9-5b34f80b01da" providerId="ADAL" clId="{171E045B-1E3B-4146-AB10-0FB07A63A88A}" dt="2026-06-22T20:52:07.285" v="8098"/>
      <pc:docMkLst>
        <pc:docMk/>
      </pc:docMkLst>
      <pc:sldChg chg="addSp modSp mod">
        <pc:chgData name="Barshes, Neal (HOU)" userId="00dc9a1f-2334-407b-96d9-5b34f80b01da" providerId="ADAL" clId="{171E045B-1E3B-4146-AB10-0FB07A63A88A}" dt="2026-06-22T20:45:25.971" v="8056" actId="20577"/>
        <pc:sldMkLst>
          <pc:docMk/>
          <pc:sldMk cId="1440871621" sldId="284"/>
        </pc:sldMkLst>
        <pc:spChg chg="mod">
          <ac:chgData name="Barshes, Neal (HOU)" userId="00dc9a1f-2334-407b-96d9-5b34f80b01da" providerId="ADAL" clId="{171E045B-1E3B-4146-AB10-0FB07A63A88A}" dt="2026-06-22T20:40:37.368" v="7672" actId="404"/>
          <ac:spMkLst>
            <pc:docMk/>
            <pc:sldMk cId="1440871621" sldId="284"/>
            <ac:spMk id="2" creationId="{1DFD6C72-1DF1-5846-3957-9D6B623ECC46}"/>
          </ac:spMkLst>
        </pc:spChg>
        <pc:spChg chg="add mod">
          <ac:chgData name="Barshes, Neal (HOU)" userId="00dc9a1f-2334-407b-96d9-5b34f80b01da" providerId="ADAL" clId="{171E045B-1E3B-4146-AB10-0FB07A63A88A}" dt="2026-06-22T20:45:25.971" v="8056" actId="20577"/>
          <ac:spMkLst>
            <pc:docMk/>
            <pc:sldMk cId="1440871621" sldId="284"/>
            <ac:spMk id="3" creationId="{376D2F81-0C97-9E82-725B-D2D0042C9A16}"/>
          </ac:spMkLst>
        </pc:spChg>
      </pc:sldChg>
      <pc:sldChg chg="addSp delSp modSp mod ord modNotesTx">
        <pc:chgData name="Barshes, Neal (HOU)" userId="00dc9a1f-2334-407b-96d9-5b34f80b01da" providerId="ADAL" clId="{171E045B-1E3B-4146-AB10-0FB07A63A88A}" dt="2026-06-22T20:44:28.344" v="7928" actId="20577"/>
        <pc:sldMkLst>
          <pc:docMk/>
          <pc:sldMk cId="192646949" sldId="1063"/>
        </pc:sldMkLst>
        <pc:spChg chg="add mod">
          <ac:chgData name="Barshes, Neal (HOU)" userId="00dc9a1f-2334-407b-96d9-5b34f80b01da" providerId="ADAL" clId="{171E045B-1E3B-4146-AB10-0FB07A63A88A}" dt="2026-06-22T20:42:57.648" v="7817" actId="14100"/>
          <ac:spMkLst>
            <pc:docMk/>
            <pc:sldMk cId="192646949" sldId="1063"/>
            <ac:spMk id="2" creationId="{68D4BA8C-6176-507C-B248-1C9D902ACBDF}"/>
          </ac:spMkLst>
        </pc:spChg>
        <pc:spChg chg="add mod">
          <ac:chgData name="Barshes, Neal (HOU)" userId="00dc9a1f-2334-407b-96d9-5b34f80b01da" providerId="ADAL" clId="{171E045B-1E3B-4146-AB10-0FB07A63A88A}" dt="2026-06-22T20:42:36.822" v="7812"/>
          <ac:spMkLst>
            <pc:docMk/>
            <pc:sldMk cId="192646949" sldId="1063"/>
            <ac:spMk id="3" creationId="{F0B376D6-4BD7-38FF-0F7C-AB7E28A5E14B}"/>
          </ac:spMkLst>
        </pc:spChg>
        <pc:spChg chg="add mod">
          <ac:chgData name="Barshes, Neal (HOU)" userId="00dc9a1f-2334-407b-96d9-5b34f80b01da" providerId="ADAL" clId="{171E045B-1E3B-4146-AB10-0FB07A63A88A}" dt="2026-06-22T20:42:43.877" v="7813"/>
          <ac:spMkLst>
            <pc:docMk/>
            <pc:sldMk cId="192646949" sldId="1063"/>
            <ac:spMk id="4" creationId="{61CB49F3-EAEE-1060-9029-44E507B7A2A1}"/>
          </ac:spMkLst>
        </pc:spChg>
        <pc:spChg chg="mod">
          <ac:chgData name="Barshes, Neal (HOU)" userId="00dc9a1f-2334-407b-96d9-5b34f80b01da" providerId="ADAL" clId="{171E045B-1E3B-4146-AB10-0FB07A63A88A}" dt="2026-06-22T20:44:28.344" v="7928" actId="20577"/>
          <ac:spMkLst>
            <pc:docMk/>
            <pc:sldMk cId="192646949" sldId="1063"/>
            <ac:spMk id="22" creationId="{E80A8CE2-1FCA-224A-AECE-ED5906DE6710}"/>
          </ac:spMkLst>
        </pc:spChg>
        <pc:spChg chg="mod">
          <ac:chgData name="Barshes, Neal (HOU)" userId="00dc9a1f-2334-407b-96d9-5b34f80b01da" providerId="ADAL" clId="{171E045B-1E3B-4146-AB10-0FB07A63A88A}" dt="2026-06-22T20:43:44.088" v="7909" actId="20577"/>
          <ac:spMkLst>
            <pc:docMk/>
            <pc:sldMk cId="192646949" sldId="1063"/>
            <ac:spMk id="23" creationId="{65E089EF-6627-AE1F-8AE4-AB46AF89F507}"/>
          </ac:spMkLst>
        </pc:spChg>
        <pc:picChg chg="del mod">
          <ac:chgData name="Barshes, Neal (HOU)" userId="00dc9a1f-2334-407b-96d9-5b34f80b01da" providerId="ADAL" clId="{171E045B-1E3B-4146-AB10-0FB07A63A88A}" dt="2026-06-22T20:41:08.597" v="7677" actId="478"/>
          <ac:picMkLst>
            <pc:docMk/>
            <pc:sldMk cId="192646949" sldId="1063"/>
            <ac:picMk id="21" creationId="{0A84832F-D70D-5FFF-E15E-68FE10A3B430}"/>
          </ac:picMkLst>
        </pc:picChg>
      </pc:sldChg>
      <pc:sldChg chg="modSp mod modNotesTx">
        <pc:chgData name="Barshes, Neal (HOU)" userId="00dc9a1f-2334-407b-96d9-5b34f80b01da" providerId="ADAL" clId="{171E045B-1E3B-4146-AB10-0FB07A63A88A}" dt="2026-06-22T20:44:37.006" v="7929" actId="1076"/>
        <pc:sldMkLst>
          <pc:docMk/>
          <pc:sldMk cId="1259118607" sldId="1064"/>
        </pc:sldMkLst>
        <pc:spChg chg="mod">
          <ac:chgData name="Barshes, Neal (HOU)" userId="00dc9a1f-2334-407b-96d9-5b34f80b01da" providerId="ADAL" clId="{171E045B-1E3B-4146-AB10-0FB07A63A88A}" dt="2026-06-22T20:44:37.006" v="7929" actId="1076"/>
          <ac:spMkLst>
            <pc:docMk/>
            <pc:sldMk cId="1259118607" sldId="1064"/>
            <ac:spMk id="3" creationId="{90D66404-DCBB-EDDC-F27A-C4F04C44B9C9}"/>
          </ac:spMkLst>
        </pc:spChg>
        <pc:graphicFrameChg chg="modGraphic">
          <ac:chgData name="Barshes, Neal (HOU)" userId="00dc9a1f-2334-407b-96d9-5b34f80b01da" providerId="ADAL" clId="{171E045B-1E3B-4146-AB10-0FB07A63A88A}" dt="2026-06-22T18:47:09.438" v="463" actId="14100"/>
          <ac:graphicFrameMkLst>
            <pc:docMk/>
            <pc:sldMk cId="1259118607" sldId="1064"/>
            <ac:graphicFrameMk id="2" creationId="{64900DFE-3B39-2AC2-6601-CC4DA2B2F00F}"/>
          </ac:graphicFrameMkLst>
        </pc:graphicFrameChg>
      </pc:sldChg>
      <pc:sldChg chg="modSp mod">
        <pc:chgData name="Barshes, Neal (HOU)" userId="00dc9a1f-2334-407b-96d9-5b34f80b01da" providerId="ADAL" clId="{171E045B-1E3B-4146-AB10-0FB07A63A88A}" dt="2026-06-22T20:40:27.808" v="7670" actId="403"/>
        <pc:sldMkLst>
          <pc:docMk/>
          <pc:sldMk cId="921827229" sldId="1065"/>
        </pc:sldMkLst>
        <pc:spChg chg="mod">
          <ac:chgData name="Barshes, Neal (HOU)" userId="00dc9a1f-2334-407b-96d9-5b34f80b01da" providerId="ADAL" clId="{171E045B-1E3B-4146-AB10-0FB07A63A88A}" dt="2026-06-22T20:40:27.808" v="7670" actId="403"/>
          <ac:spMkLst>
            <pc:docMk/>
            <pc:sldMk cId="921827229" sldId="1065"/>
            <ac:spMk id="2" creationId="{1826E079-FA05-E39A-FA74-B8504B57048A}"/>
          </ac:spMkLst>
        </pc:spChg>
        <pc:spChg chg="mod">
          <ac:chgData name="Barshes, Neal (HOU)" userId="00dc9a1f-2334-407b-96d9-5b34f80b01da" providerId="ADAL" clId="{171E045B-1E3B-4146-AB10-0FB07A63A88A}" dt="2026-06-22T20:12:45.669" v="6559" actId="404"/>
          <ac:spMkLst>
            <pc:docMk/>
            <pc:sldMk cId="921827229" sldId="1065"/>
            <ac:spMk id="3" creationId="{4C7E666C-BBD5-7BD8-6EDB-77D125A14F3C}"/>
          </ac:spMkLst>
        </pc:spChg>
      </pc:sldChg>
      <pc:sldChg chg="del ord">
        <pc:chgData name="Barshes, Neal (HOU)" userId="00dc9a1f-2334-407b-96d9-5b34f80b01da" providerId="ADAL" clId="{171E045B-1E3B-4146-AB10-0FB07A63A88A}" dt="2026-06-22T20:40:42.992" v="7674" actId="47"/>
        <pc:sldMkLst>
          <pc:docMk/>
          <pc:sldMk cId="4256491604" sldId="1067"/>
        </pc:sldMkLst>
      </pc:sldChg>
      <pc:sldChg chg="del">
        <pc:chgData name="Barshes, Neal (HOU)" userId="00dc9a1f-2334-407b-96d9-5b34f80b01da" providerId="ADAL" clId="{171E045B-1E3B-4146-AB10-0FB07A63A88A}" dt="2026-06-22T20:40:56.690" v="7676" actId="47"/>
        <pc:sldMkLst>
          <pc:docMk/>
          <pc:sldMk cId="3877220897" sldId="1068"/>
        </pc:sldMkLst>
      </pc:sldChg>
      <pc:sldChg chg="del">
        <pc:chgData name="Barshes, Neal (HOU)" userId="00dc9a1f-2334-407b-96d9-5b34f80b01da" providerId="ADAL" clId="{171E045B-1E3B-4146-AB10-0FB07A63A88A}" dt="2026-06-22T20:44:14.260" v="7915" actId="47"/>
        <pc:sldMkLst>
          <pc:docMk/>
          <pc:sldMk cId="2015397567" sldId="1069"/>
        </pc:sldMkLst>
      </pc:sldChg>
      <pc:sldChg chg="addSp delSp modSp add mod modNotesTx">
        <pc:chgData name="Barshes, Neal (HOU)" userId="00dc9a1f-2334-407b-96d9-5b34f80b01da" providerId="ADAL" clId="{171E045B-1E3B-4146-AB10-0FB07A63A88A}" dt="2026-06-22T20:52:07.285" v="8098"/>
        <pc:sldMkLst>
          <pc:docMk/>
          <pc:sldMk cId="1796800028" sldId="1070"/>
        </pc:sldMkLst>
        <pc:spChg chg="mod">
          <ac:chgData name="Barshes, Neal (HOU)" userId="00dc9a1f-2334-407b-96d9-5b34f80b01da" providerId="ADAL" clId="{171E045B-1E3B-4146-AB10-0FB07A63A88A}" dt="2026-06-22T20:52:07.285" v="8098"/>
          <ac:spMkLst>
            <pc:docMk/>
            <pc:sldMk cId="1796800028" sldId="1070"/>
            <ac:spMk id="3" creationId="{148C7AE6-D0EE-657A-2F9C-9EE58C5E68DA}"/>
          </ac:spMkLst>
        </pc:spChg>
        <pc:spChg chg="add mod">
          <ac:chgData name="Barshes, Neal (HOU)" userId="00dc9a1f-2334-407b-96d9-5b34f80b01da" providerId="ADAL" clId="{171E045B-1E3B-4146-AB10-0FB07A63A88A}" dt="2026-06-05T17:46:26.351" v="252" actId="207"/>
          <ac:spMkLst>
            <pc:docMk/>
            <pc:sldMk cId="1796800028" sldId="1070"/>
            <ac:spMk id="18" creationId="{CFCAD5AE-62B7-E9AF-4FBA-2020399BEDE3}"/>
          </ac:spMkLst>
        </pc:spChg>
        <pc:spChg chg="add mod">
          <ac:chgData name="Barshes, Neal (HOU)" userId="00dc9a1f-2334-407b-96d9-5b34f80b01da" providerId="ADAL" clId="{171E045B-1E3B-4146-AB10-0FB07A63A88A}" dt="2026-06-05T17:46:26.351" v="252" actId="207"/>
          <ac:spMkLst>
            <pc:docMk/>
            <pc:sldMk cId="1796800028" sldId="1070"/>
            <ac:spMk id="20" creationId="{AF4F2A48-2148-4956-1555-29282B1EF4B2}"/>
          </ac:spMkLst>
        </pc:spChg>
        <pc:grpChg chg="add mod ord">
          <ac:chgData name="Barshes, Neal (HOU)" userId="00dc9a1f-2334-407b-96d9-5b34f80b01da" providerId="ADAL" clId="{171E045B-1E3B-4146-AB10-0FB07A63A88A}" dt="2026-06-22T20:47:04.624" v="8061" actId="14100"/>
          <ac:grpSpMkLst>
            <pc:docMk/>
            <pc:sldMk cId="1796800028" sldId="1070"/>
            <ac:grpSpMk id="22" creationId="{AC9E6DD0-ADF3-A6A5-D0F4-029A1D49A3B7}"/>
          </ac:grpSpMkLst>
        </pc:grpChg>
        <pc:graphicFrameChg chg="add mod modGraphic">
          <ac:chgData name="Barshes, Neal (HOU)" userId="00dc9a1f-2334-407b-96d9-5b34f80b01da" providerId="ADAL" clId="{171E045B-1E3B-4146-AB10-0FB07A63A88A}" dt="2026-06-22T20:49:09.174" v="8076" actId="572"/>
          <ac:graphicFrameMkLst>
            <pc:docMk/>
            <pc:sldMk cId="1796800028" sldId="1070"/>
            <ac:graphicFrameMk id="19" creationId="{6964D683-1FAC-8C5A-A5D5-98A124465659}"/>
          </ac:graphicFrameMkLst>
        </pc:graphicFrameChg>
        <pc:picChg chg="add del mod">
          <ac:chgData name="Barshes, Neal (HOU)" userId="00dc9a1f-2334-407b-96d9-5b34f80b01da" providerId="ADAL" clId="{171E045B-1E3B-4146-AB10-0FB07A63A88A}" dt="2026-06-22T20:50:14.618" v="8079" actId="931"/>
          <ac:picMkLst>
            <pc:docMk/>
            <pc:sldMk cId="1796800028" sldId="1070"/>
            <ac:picMk id="4" creationId="{577759EC-26D3-4D79-20BF-E67A476E841C}"/>
          </ac:picMkLst>
        </pc:picChg>
        <pc:picChg chg="add del mod">
          <ac:chgData name="Barshes, Neal (HOU)" userId="00dc9a1f-2334-407b-96d9-5b34f80b01da" providerId="ADAL" clId="{171E045B-1E3B-4146-AB10-0FB07A63A88A}" dt="2026-06-22T20:50:20.737" v="8082" actId="931"/>
          <ac:picMkLst>
            <pc:docMk/>
            <pc:sldMk cId="1796800028" sldId="1070"/>
            <ac:picMk id="6" creationId="{8A670FB2-1340-AE5A-4F3B-7891974D133F}"/>
          </ac:picMkLst>
        </pc:picChg>
        <pc:picChg chg="add mod modCrop">
          <ac:chgData name="Barshes, Neal (HOU)" userId="00dc9a1f-2334-407b-96d9-5b34f80b01da" providerId="ADAL" clId="{171E045B-1E3B-4146-AB10-0FB07A63A88A}" dt="2026-06-22T20:52:01.651" v="8097"/>
          <ac:picMkLst>
            <pc:docMk/>
            <pc:sldMk cId="1796800028" sldId="1070"/>
            <ac:picMk id="8" creationId="{FC277242-966A-2005-B867-B4A35E80C194}"/>
          </ac:picMkLst>
        </pc:picChg>
      </pc:sldChg>
      <pc:sldChg chg="addSp delSp modSp add mod ord">
        <pc:chgData name="Barshes, Neal (HOU)" userId="00dc9a1f-2334-407b-96d9-5b34f80b01da" providerId="ADAL" clId="{171E045B-1E3B-4146-AB10-0FB07A63A88A}" dt="2026-06-22T20:40:04.313" v="7664" actId="404"/>
        <pc:sldMkLst>
          <pc:docMk/>
          <pc:sldMk cId="1343264506" sldId="1071"/>
        </pc:sldMkLst>
        <pc:spChg chg="mod">
          <ac:chgData name="Barshes, Neal (HOU)" userId="00dc9a1f-2334-407b-96d9-5b34f80b01da" providerId="ADAL" clId="{171E045B-1E3B-4146-AB10-0FB07A63A88A}" dt="2026-06-22T20:40:04.313" v="7664" actId="404"/>
          <ac:spMkLst>
            <pc:docMk/>
            <pc:sldMk cId="1343264506" sldId="1071"/>
            <ac:spMk id="2" creationId="{674BED5D-E8A0-B651-C80A-B4B005348070}"/>
          </ac:spMkLst>
        </pc:spChg>
        <pc:spChg chg="del">
          <ac:chgData name="Barshes, Neal (HOU)" userId="00dc9a1f-2334-407b-96d9-5b34f80b01da" providerId="ADAL" clId="{171E045B-1E3B-4146-AB10-0FB07A63A88A}" dt="2026-06-22T20:35:25.880" v="7474" actId="478"/>
          <ac:spMkLst>
            <pc:docMk/>
            <pc:sldMk cId="1343264506" sldId="1071"/>
            <ac:spMk id="3" creationId="{A45A6A3C-806B-FD2F-BA92-BC21BC8E217E}"/>
          </ac:spMkLst>
        </pc:spChg>
        <pc:spChg chg="del">
          <ac:chgData name="Barshes, Neal (HOU)" userId="00dc9a1f-2334-407b-96d9-5b34f80b01da" providerId="ADAL" clId="{171E045B-1E3B-4146-AB10-0FB07A63A88A}" dt="2026-06-22T20:35:29.187" v="7476" actId="478"/>
          <ac:spMkLst>
            <pc:docMk/>
            <pc:sldMk cId="1343264506" sldId="1071"/>
            <ac:spMk id="4" creationId="{38616E7B-3597-3380-4826-7C23E5A569E3}"/>
          </ac:spMkLst>
        </pc:spChg>
        <pc:spChg chg="del">
          <ac:chgData name="Barshes, Neal (HOU)" userId="00dc9a1f-2334-407b-96d9-5b34f80b01da" providerId="ADAL" clId="{171E045B-1E3B-4146-AB10-0FB07A63A88A}" dt="2026-06-22T20:35:55.285" v="7509" actId="478"/>
          <ac:spMkLst>
            <pc:docMk/>
            <pc:sldMk cId="1343264506" sldId="1071"/>
            <ac:spMk id="5" creationId="{77CB3596-534E-67A7-7CA6-EA3598A61EB7}"/>
          </ac:spMkLst>
        </pc:spChg>
        <pc:spChg chg="del">
          <ac:chgData name="Barshes, Neal (HOU)" userId="00dc9a1f-2334-407b-96d9-5b34f80b01da" providerId="ADAL" clId="{171E045B-1E3B-4146-AB10-0FB07A63A88A}" dt="2026-06-22T20:35:31.588" v="7477" actId="478"/>
          <ac:spMkLst>
            <pc:docMk/>
            <pc:sldMk cId="1343264506" sldId="1071"/>
            <ac:spMk id="6" creationId="{7A1C275F-0C3D-BBFD-85F0-14940C79FB96}"/>
          </ac:spMkLst>
        </pc:spChg>
        <pc:spChg chg="add del mod">
          <ac:chgData name="Barshes, Neal (HOU)" userId="00dc9a1f-2334-407b-96d9-5b34f80b01da" providerId="ADAL" clId="{171E045B-1E3B-4146-AB10-0FB07A63A88A}" dt="2026-06-22T20:35:28.085" v="7475" actId="478"/>
          <ac:spMkLst>
            <pc:docMk/>
            <pc:sldMk cId="1343264506" sldId="1071"/>
            <ac:spMk id="8" creationId="{A4F68300-66FB-E5F0-1864-A9BF5F4995A4}"/>
          </ac:spMkLst>
        </pc:spChg>
        <pc:graphicFrameChg chg="add mod modGraphic">
          <ac:chgData name="Barshes, Neal (HOU)" userId="00dc9a1f-2334-407b-96d9-5b34f80b01da" providerId="ADAL" clId="{171E045B-1E3B-4146-AB10-0FB07A63A88A}" dt="2026-06-22T20:39:16.528" v="7660" actId="20577"/>
          <ac:graphicFrameMkLst>
            <pc:docMk/>
            <pc:sldMk cId="1343264506" sldId="1071"/>
            <ac:graphicFrameMk id="9" creationId="{791183EF-E6D2-6AD9-DD34-76A9FB8DF491}"/>
          </ac:graphicFrameMkLst>
        </pc:graphicFrameChg>
      </pc:sldChg>
      <pc:sldChg chg="new del">
        <pc:chgData name="Barshes, Neal (HOU)" userId="00dc9a1f-2334-407b-96d9-5b34f80b01da" providerId="ADAL" clId="{171E045B-1E3B-4146-AB10-0FB07A63A88A}" dt="2026-06-22T20:40:39.258" v="7673" actId="47"/>
        <pc:sldMkLst>
          <pc:docMk/>
          <pc:sldMk cId="1051442204" sldId="10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EFF2D2-416D-4DEB-AE3D-7F2E3D944ADB}"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31743D-965F-4E2B-A51F-B72A789B71D9}" type="slidenum">
              <a:rPr lang="en-US" smtClean="0"/>
              <a:t>‹#›</a:t>
            </a:fld>
            <a:endParaRPr lang="en-US"/>
          </a:p>
        </p:txBody>
      </p:sp>
    </p:spTree>
    <p:extLst>
      <p:ext uri="{BB962C8B-B14F-4D97-AF65-F5344CB8AC3E}">
        <p14:creationId xmlns:p14="http://schemas.microsoft.com/office/powerpoint/2010/main" val="3570658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dirty="0"/>
              <a:t>NOTE: complication should be presented ONLY if the involved faculty surgeon </a:t>
            </a:r>
          </a:p>
        </p:txBody>
      </p:sp>
      <p:sp>
        <p:nvSpPr>
          <p:cNvPr id="4" name="Slide Number Placeholder 3"/>
          <p:cNvSpPr>
            <a:spLocks noGrp="1"/>
          </p:cNvSpPr>
          <p:nvPr>
            <p:ph type="sldNum" sz="quarter" idx="5"/>
          </p:nvPr>
        </p:nvSpPr>
        <p:spPr/>
        <p:txBody>
          <a:bodyPr/>
          <a:lstStyle/>
          <a:p>
            <a:fld id="{CB31743D-965F-4E2B-A51F-B72A789B71D9}" type="slidenum">
              <a:rPr lang="en-US" smtClean="0"/>
              <a:t>1</a:t>
            </a:fld>
            <a:endParaRPr lang="en-US"/>
          </a:p>
        </p:txBody>
      </p:sp>
    </p:spTree>
    <p:extLst>
      <p:ext uri="{BB962C8B-B14F-4D97-AF65-F5344CB8AC3E}">
        <p14:creationId xmlns:p14="http://schemas.microsoft.com/office/powerpoint/2010/main" val="693785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Make this short and sweet: do NOT (repeat: NOT) list all comorbidities, common comorbidities (ex. hyperlipidemia), or alphabet soup (ex. “HTN, HLD, DM, GERD).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Clinical information pertinent to adverse outcome</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Patient history: pertinent HPI/PMH/PSH/meds</a:t>
            </a:r>
          </a:p>
          <a:p>
            <a:r>
              <a:rPr lang="en-US" sz="800" dirty="0">
                <a:latin typeface="Arial" panose="020B0604020202020204" pitchFamily="34" charset="0"/>
                <a:cs typeface="Arial" panose="020B0604020202020204" pitchFamily="34" charset="0"/>
              </a:rPr>
              <a:t>Labs/imaging studies: studies relevant to outcome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latin typeface="Arial" panose="020B0604020202020204" pitchFamily="34" charset="0"/>
                <a:cs typeface="Arial" panose="020B0604020202020204" pitchFamily="34" charset="0"/>
              </a:rPr>
              <a:t>Indication for intervention: thought process behind decision to operate</a:t>
            </a:r>
          </a:p>
          <a:p>
            <a:r>
              <a:rPr lang="en-US" sz="800" dirty="0">
                <a:latin typeface="Arial" panose="020B0604020202020204" pitchFamily="34" charset="0"/>
                <a:cs typeface="Arial" panose="020B0604020202020204" pitchFamily="34" charset="0"/>
              </a:rPr>
              <a:t>Procedural/management details : technical or physiologic details related to outcome</a:t>
            </a:r>
          </a:p>
          <a:p>
            <a:r>
              <a:rPr lang="en-US" sz="800" dirty="0">
                <a:latin typeface="Arial" panose="020B0604020202020204" pitchFamily="34" charset="0"/>
                <a:cs typeface="Arial" panose="020B0604020202020204" pitchFamily="34" charset="0"/>
              </a:rPr>
              <a:t>Hospital course: non-procedural events related to outcome</a:t>
            </a:r>
          </a:p>
          <a:p>
            <a:r>
              <a:rPr lang="en-US" sz="800" dirty="0">
                <a:latin typeface="Arial" panose="020B0604020202020204" pitchFamily="34" charset="0"/>
                <a:cs typeface="Arial" panose="020B0604020202020204" pitchFamily="34" charset="0"/>
              </a:rPr>
              <a:t>Recognition of the error/complication: how/when the complication was recognized</a:t>
            </a:r>
          </a:p>
          <a:p>
            <a:r>
              <a:rPr lang="en-US" sz="800" dirty="0">
                <a:latin typeface="Arial" panose="020B0604020202020204" pitchFamily="34" charset="0"/>
                <a:cs typeface="Arial" panose="020B0604020202020204" pitchFamily="34" charset="0"/>
              </a:rPr>
              <a:t>Management of the error/complication: steps taken to manage the complication</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Don’t use this or any other slide as your speaker’s notes! Only use the bullet points for headlines, giving the audience some framework for what you will </a:t>
            </a:r>
            <a:r>
              <a:rPr lang="en-US" sz="800" i="1" dirty="0">
                <a:latin typeface="Arial" panose="020B0604020202020204" pitchFamily="34" charset="0"/>
                <a:cs typeface="Arial" panose="020B0604020202020204" pitchFamily="34" charset="0"/>
              </a:rPr>
              <a:t>say</a:t>
            </a:r>
            <a:r>
              <a:rPr lang="en-US" sz="800" dirty="0">
                <a:latin typeface="Arial" panose="020B0604020202020204" pitchFamily="34" charset="0"/>
                <a:cs typeface="Arial" panose="020B0604020202020204" pitchFamily="34" charset="0"/>
              </a:rPr>
              <a:t>.</a:t>
            </a:r>
          </a:p>
          <a:p>
            <a:endParaRPr lang="en-US" sz="800" dirty="0">
              <a:latin typeface="Arial" panose="020B0604020202020204" pitchFamily="34" charset="0"/>
              <a:cs typeface="Arial" panose="020B0604020202020204" pitchFamily="34" charset="0"/>
            </a:endParaRPr>
          </a:p>
          <a:p>
            <a:r>
              <a:rPr lang="en-US" sz="800" b="1" dirty="0">
                <a:latin typeface="Arial" panose="020B0604020202020204" pitchFamily="34" charset="0"/>
                <a:cs typeface="Arial" panose="020B0604020202020204" pitchFamily="34" charset="0"/>
              </a:rPr>
              <a:t>IF presenting SSI anywhere, describe which risk factors were present/absent: </a:t>
            </a:r>
          </a:p>
          <a:p>
            <a:endParaRPr lang="en-US" sz="800" dirty="0">
              <a:latin typeface="Arial" panose="020B0604020202020204" pitchFamily="34" charset="0"/>
              <a:cs typeface="Arial" panose="020B0604020202020204" pitchFamily="34" charset="0"/>
            </a:endParaRPr>
          </a:p>
          <a:p>
            <a:r>
              <a:rPr lang="en-US" sz="1200" b="0" i="0" kern="1200" dirty="0">
                <a:solidFill>
                  <a:schemeClr val="tx1"/>
                </a:solidFill>
                <a:effectLst/>
                <a:latin typeface="+mn-lt"/>
                <a:ea typeface="+mn-ea"/>
                <a:cs typeface="+mn-cs"/>
              </a:rPr>
              <a:t>PTFE or Dacron prosthetic vascular graft</a:t>
            </a:r>
          </a:p>
          <a:p>
            <a:r>
              <a:rPr lang="en-US" sz="1200" b="0" i="0" kern="1200" dirty="0">
                <a:solidFill>
                  <a:schemeClr val="tx1"/>
                </a:solidFill>
                <a:effectLst/>
                <a:latin typeface="+mn-lt"/>
                <a:ea typeface="+mn-ea"/>
                <a:cs typeface="+mn-cs"/>
              </a:rPr>
              <a:t>obesity (body mass index [BMI] OR 1.43, BMI 29.9-40: OR 1.64; BMI ≥40: OR 2.22) </a:t>
            </a:r>
          </a:p>
          <a:p>
            <a:r>
              <a:rPr lang="en-US" sz="1200" b="0" i="0" kern="1200" dirty="0">
                <a:solidFill>
                  <a:schemeClr val="tx1"/>
                </a:solidFill>
                <a:effectLst/>
                <a:latin typeface="+mn-lt"/>
                <a:ea typeface="+mn-ea"/>
                <a:cs typeface="+mn-cs"/>
              </a:rPr>
              <a:t>Rest pain or tissue loss </a:t>
            </a:r>
          </a:p>
          <a:p>
            <a:r>
              <a:rPr lang="en-US" sz="1200" b="0" i="0" kern="1200" dirty="0">
                <a:solidFill>
                  <a:schemeClr val="tx1"/>
                </a:solidFill>
                <a:effectLst/>
                <a:latin typeface="+mn-lt"/>
                <a:ea typeface="+mn-ea"/>
                <a:cs typeface="+mn-cs"/>
              </a:rPr>
              <a:t>severe CHF (OR 1.89), </a:t>
            </a:r>
          </a:p>
          <a:p>
            <a:r>
              <a:rPr lang="en-US" sz="1200" b="0" i="0" kern="1200" dirty="0">
                <a:solidFill>
                  <a:schemeClr val="tx1"/>
                </a:solidFill>
                <a:effectLst/>
                <a:latin typeface="+mn-lt"/>
                <a:ea typeface="+mn-ea"/>
                <a:cs typeface="+mn-cs"/>
              </a:rPr>
              <a:t>kidney failure (OR 1.83)</a:t>
            </a:r>
          </a:p>
          <a:p>
            <a:r>
              <a:rPr lang="en-US" sz="1200" b="0" i="0" kern="1200" dirty="0">
                <a:solidFill>
                  <a:schemeClr val="tx1"/>
                </a:solidFill>
                <a:effectLst/>
                <a:latin typeface="+mn-lt"/>
                <a:ea typeface="+mn-ea"/>
                <a:cs typeface="+mn-cs"/>
              </a:rPr>
              <a:t>Tissue loss (OR 1.67)</a:t>
            </a:r>
          </a:p>
          <a:p>
            <a:r>
              <a:rPr lang="en-US" sz="1200" b="0" i="0" kern="1200" dirty="0">
                <a:solidFill>
                  <a:schemeClr val="tx1"/>
                </a:solidFill>
                <a:effectLst/>
                <a:latin typeface="+mn-lt"/>
                <a:ea typeface="+mn-ea"/>
                <a:cs typeface="+mn-cs"/>
              </a:rPr>
              <a:t>diabetes (OR, 1.32)</a:t>
            </a:r>
          </a:p>
          <a:p>
            <a:r>
              <a:rPr lang="en-US" sz="1200" b="0" i="0" kern="1200" dirty="0">
                <a:solidFill>
                  <a:schemeClr val="tx1"/>
                </a:solidFill>
                <a:effectLst/>
                <a:latin typeface="+mn-lt"/>
                <a:ea typeface="+mn-ea"/>
                <a:cs typeface="+mn-cs"/>
              </a:rPr>
              <a:t>Rest pain (OR 1.23)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untreated COPD (OR 1.21)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Perioperative factors:</a:t>
            </a:r>
          </a:p>
          <a:p>
            <a:r>
              <a:rPr lang="en-US" sz="1200" b="0" i="0" kern="1200" dirty="0">
                <a:solidFill>
                  <a:schemeClr val="tx1"/>
                </a:solidFill>
                <a:effectLst/>
                <a:latin typeface="+mn-lt"/>
                <a:ea typeface="+mn-ea"/>
                <a:cs typeface="+mn-cs"/>
              </a:rPr>
              <a:t>intraoperative blood transfusion (OR 2.28) </a:t>
            </a:r>
          </a:p>
          <a:p>
            <a:r>
              <a:rPr lang="en-US" sz="1200" b="0" i="0" kern="1200" dirty="0">
                <a:solidFill>
                  <a:schemeClr val="tx1"/>
                </a:solidFill>
                <a:effectLst/>
                <a:latin typeface="+mn-lt"/>
                <a:ea typeface="+mn-ea"/>
                <a:cs typeface="+mn-cs"/>
              </a:rPr>
              <a:t>prolonged operative time ≥150 minutes (OR 1.51) and ≥300 minutes (OR, 1.95)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Protective factors:</a:t>
            </a:r>
          </a:p>
          <a:p>
            <a:r>
              <a:rPr lang="en-US" sz="1200" b="0" i="0" kern="1200" dirty="0">
                <a:solidFill>
                  <a:schemeClr val="tx1"/>
                </a:solidFill>
                <a:effectLst/>
                <a:latin typeface="+mn-lt"/>
                <a:ea typeface="+mn-ea"/>
                <a:cs typeface="+mn-cs"/>
              </a:rPr>
              <a:t>controlled diabetes (OR 0.75)</a:t>
            </a:r>
          </a:p>
          <a:p>
            <a:r>
              <a:rPr lang="en-US" sz="1200" b="0" i="0" kern="1200" dirty="0">
                <a:solidFill>
                  <a:schemeClr val="tx1"/>
                </a:solidFill>
                <a:effectLst/>
                <a:latin typeface="+mn-lt"/>
                <a:ea typeface="+mn-ea"/>
                <a:cs typeface="+mn-cs"/>
              </a:rPr>
              <a:t>controlled hypertension (OR 0.68), </a:t>
            </a:r>
          </a:p>
          <a:p>
            <a:r>
              <a:rPr lang="en-US" sz="1200" b="0" i="0" kern="1200" dirty="0">
                <a:solidFill>
                  <a:schemeClr val="tx1"/>
                </a:solidFill>
                <a:effectLst/>
                <a:latin typeface="+mn-lt"/>
                <a:ea typeface="+mn-ea"/>
                <a:cs typeface="+mn-cs"/>
              </a:rPr>
              <a:t>perioperative antibiotics (OR 0.74)</a:t>
            </a:r>
            <a:endParaRPr lang="en-US" sz="800" dirty="0">
              <a:latin typeface="Arial" panose="020B0604020202020204" pitchFamily="34" charset="0"/>
              <a:cs typeface="Arial" panose="020B0604020202020204" pitchFamily="34" charset="0"/>
            </a:endParaRPr>
          </a:p>
          <a:p>
            <a:endParaRPr lang="en-US" sz="800" b="1" dirty="0">
              <a:latin typeface="Arial" panose="020B0604020202020204" pitchFamily="34" charset="0"/>
              <a:cs typeface="Arial" panose="020B0604020202020204" pitchFamily="34" charset="0"/>
            </a:endParaRPr>
          </a:p>
          <a:p>
            <a:endParaRPr lang="en-US" sz="800" b="1" dirty="0">
              <a:latin typeface="Arial" panose="020B0604020202020204" pitchFamily="34" charset="0"/>
              <a:cs typeface="Arial" panose="020B0604020202020204" pitchFamily="34" charset="0"/>
            </a:endParaRPr>
          </a:p>
          <a:p>
            <a:r>
              <a:rPr lang="en-US" sz="800" b="1" dirty="0">
                <a:latin typeface="Arial" panose="020B0604020202020204" pitchFamily="34" charset="0"/>
                <a:cs typeface="Arial" panose="020B0604020202020204" pitchFamily="34" charset="0"/>
              </a:rPr>
              <a:t>IF presenting a groin SSI, give the Penn Groin scale score:</a:t>
            </a:r>
          </a:p>
          <a:p>
            <a:r>
              <a:rPr lang="en-US" sz="800" dirty="0">
                <a:latin typeface="Arial" panose="020B0604020202020204" pitchFamily="34" charset="0"/>
                <a:cs typeface="Arial" panose="020B0604020202020204" pitchFamily="34" charset="0"/>
              </a:rPr>
              <a:t>Penn Groin scale (Fischer JP et al. Plast </a:t>
            </a:r>
            <a:r>
              <a:rPr lang="en-US" sz="800" dirty="0" err="1">
                <a:latin typeface="Arial" panose="020B0604020202020204" pitchFamily="34" charset="0"/>
                <a:cs typeface="Arial" panose="020B0604020202020204" pitchFamily="34" charset="0"/>
              </a:rPr>
              <a:t>Reconstr</a:t>
            </a:r>
            <a:r>
              <a:rPr lang="en-US" sz="800" dirty="0">
                <a:latin typeface="Arial" panose="020B0604020202020204" pitchFamily="34" charset="0"/>
                <a:cs typeface="Arial" panose="020B0604020202020204" pitchFamily="34" charset="0"/>
              </a:rPr>
              <a:t>)</a:t>
            </a:r>
          </a:p>
          <a:p>
            <a:r>
              <a:rPr lang="en-US" sz="800" dirty="0">
                <a:latin typeface="Arial" panose="020B0604020202020204" pitchFamily="34" charset="0"/>
                <a:cs typeface="Arial" panose="020B0604020202020204" pitchFamily="34" charset="0"/>
              </a:rPr>
              <a:t>obesity 	+1</a:t>
            </a:r>
          </a:p>
          <a:p>
            <a:r>
              <a:rPr lang="en-US" sz="800" dirty="0">
                <a:latin typeface="Arial" panose="020B0604020202020204" pitchFamily="34" charset="0"/>
                <a:cs typeface="Arial" panose="020B0604020202020204" pitchFamily="34" charset="0"/>
              </a:rPr>
              <a:t>smoking	+2</a:t>
            </a:r>
          </a:p>
          <a:p>
            <a:r>
              <a:rPr lang="en-US" sz="800" dirty="0">
                <a:latin typeface="Arial" panose="020B0604020202020204" pitchFamily="34" charset="0"/>
                <a:cs typeface="Arial" panose="020B0604020202020204" pitchFamily="34" charset="0"/>
              </a:rPr>
              <a:t>reoperation	+2</a:t>
            </a:r>
          </a:p>
          <a:p>
            <a:r>
              <a:rPr lang="en-US" sz="800" dirty="0">
                <a:latin typeface="Arial" panose="020B0604020202020204" pitchFamily="34" charset="0"/>
                <a:cs typeface="Arial" panose="020B0604020202020204" pitchFamily="34" charset="0"/>
              </a:rPr>
              <a:t>prosthetic	+2</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low = 	0-2</a:t>
            </a:r>
          </a:p>
          <a:p>
            <a:r>
              <a:rPr lang="en-US" sz="800" dirty="0">
                <a:latin typeface="Arial" panose="020B0604020202020204" pitchFamily="34" charset="0"/>
                <a:cs typeface="Arial" panose="020B0604020202020204" pitchFamily="34" charset="0"/>
              </a:rPr>
              <a:t>intermediate = 3-4</a:t>
            </a:r>
          </a:p>
          <a:p>
            <a:r>
              <a:rPr lang="en-US" sz="800" dirty="0">
                <a:latin typeface="Arial" panose="020B0604020202020204" pitchFamily="34" charset="0"/>
                <a:cs typeface="Arial" panose="020B0604020202020204" pitchFamily="34" charset="0"/>
              </a:rPr>
              <a:t>high &gt;=5</a:t>
            </a:r>
          </a:p>
        </p:txBody>
      </p:sp>
      <p:sp>
        <p:nvSpPr>
          <p:cNvPr id="4" name="Slide Number Placeholder 3"/>
          <p:cNvSpPr>
            <a:spLocks noGrp="1"/>
          </p:cNvSpPr>
          <p:nvPr>
            <p:ph type="sldNum" sz="quarter" idx="5"/>
          </p:nvPr>
        </p:nvSpPr>
        <p:spPr/>
        <p:txBody>
          <a:bodyPr/>
          <a:lstStyle/>
          <a:p>
            <a:fld id="{CB31743D-965F-4E2B-A51F-B72A789B71D9}" type="slidenum">
              <a:rPr lang="en-US" smtClean="0"/>
              <a:t>2</a:t>
            </a:fld>
            <a:endParaRPr lang="en-US"/>
          </a:p>
        </p:txBody>
      </p:sp>
    </p:spTree>
    <p:extLst>
      <p:ext uri="{BB962C8B-B14F-4D97-AF65-F5344CB8AC3E}">
        <p14:creationId xmlns:p14="http://schemas.microsoft.com/office/powerpoint/2010/main" val="1709024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relevant imaging here)</a:t>
            </a:r>
          </a:p>
        </p:txBody>
      </p:sp>
      <p:sp>
        <p:nvSpPr>
          <p:cNvPr id="4" name="Slide Number Placeholder 3"/>
          <p:cNvSpPr>
            <a:spLocks noGrp="1"/>
          </p:cNvSpPr>
          <p:nvPr>
            <p:ph type="sldNum" sz="quarter" idx="5"/>
          </p:nvPr>
        </p:nvSpPr>
        <p:spPr/>
        <p:txBody>
          <a:bodyPr/>
          <a:lstStyle/>
          <a:p>
            <a:fld id="{CB31743D-965F-4E2B-A51F-B72A789B71D9}" type="slidenum">
              <a:rPr lang="en-US" smtClean="0"/>
              <a:t>3</a:t>
            </a:fld>
            <a:endParaRPr lang="en-US"/>
          </a:p>
        </p:txBody>
      </p:sp>
    </p:spTree>
    <p:extLst>
      <p:ext uri="{BB962C8B-B14F-4D97-AF65-F5344CB8AC3E}">
        <p14:creationId xmlns:p14="http://schemas.microsoft.com/office/powerpoint/2010/main" val="2977473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E07C3-7673-424F-DD6E-33B4E711C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FF8C9-1E2E-8B7F-F1F9-D92BC471B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A6E668-8FA6-E1DE-4864-6DA50C8254A0}"/>
              </a:ext>
            </a:extLst>
          </p:cNvPr>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Focus on the one most relevant study on recognizing, preventing, or treating this complication.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Can briefly describe other studies to point out similarities or differences, but better to go through one in depth than five at a superficial level.</a:t>
            </a:r>
          </a:p>
          <a:p>
            <a:endParaRPr lang="en-US" dirty="0"/>
          </a:p>
        </p:txBody>
      </p:sp>
      <p:sp>
        <p:nvSpPr>
          <p:cNvPr id="4" name="Slide Number Placeholder 3">
            <a:extLst>
              <a:ext uri="{FF2B5EF4-FFF2-40B4-BE49-F238E27FC236}">
                <a16:creationId xmlns:a16="http://schemas.microsoft.com/office/drawing/2014/main" id="{C203D72B-D137-6B94-1A79-D2D4884811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31743D-965F-4E2B-A51F-B72A789B71D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99590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FB647-F004-8BEF-E2C3-D4BBB8F8C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8C733-937F-173D-FF53-2FC04E288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B3E14-BB60-93A7-9F3C-98DEE2E2056D}"/>
              </a:ext>
            </a:extLst>
          </p:cNvPr>
          <p:cNvSpPr>
            <a:spLocks noGrp="1"/>
          </p:cNvSpPr>
          <p:nvPr>
            <p:ph type="body" idx="1"/>
          </p:nvPr>
        </p:nvSpPr>
        <p:spPr/>
        <p:txBody>
          <a:bodyPr/>
          <a:lstStyle/>
          <a:p>
            <a:r>
              <a:rPr lang="en-US" sz="800" i="1" dirty="0">
                <a:latin typeface="Arial" panose="020B0604020202020204" pitchFamily="34" charset="0"/>
                <a:cs typeface="Arial" panose="020B0604020202020204" pitchFamily="34" charset="0"/>
              </a:rPr>
              <a:t>NB: There are many terms here, but I can promise you that thinking through the case with these terms applied will help you and the audience understand what may have contributed to the undesired outcome. </a:t>
            </a:r>
          </a:p>
          <a:p>
            <a:endParaRPr lang="en-US" sz="800" dirty="0">
              <a:latin typeface="Arial" panose="020B0604020202020204" pitchFamily="34" charset="0"/>
              <a:cs typeface="Arial" panose="020B0604020202020204" pitchFamily="34" charset="0"/>
            </a:endParaRP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 </a:t>
            </a:r>
            <a:r>
              <a:rPr lang="en-US" sz="800" b="1" dirty="0">
                <a:latin typeface="Arial" panose="020B0604020202020204" pitchFamily="34" charset="0"/>
                <a:cs typeface="Arial" panose="020B0604020202020204" pitchFamily="34" charset="0"/>
              </a:rPr>
              <a:t>risk factor</a:t>
            </a:r>
            <a:r>
              <a:rPr lang="en-US" sz="800" dirty="0">
                <a:latin typeface="Arial" panose="020B0604020202020204" pitchFamily="34" charset="0"/>
                <a:cs typeface="Arial" panose="020B0604020202020204" pitchFamily="34" charset="0"/>
              </a:rPr>
              <a:t> increases risk/probability of the primary event occurring, but does not make the primary event inevitable. For example, diabetes, obesity, smoking, and hospital pre-admission are risk factors. These should be subdivided into </a:t>
            </a:r>
            <a:r>
              <a:rPr lang="en-US" sz="800" b="1" dirty="0">
                <a:latin typeface="Arial" panose="020B0604020202020204" pitchFamily="34" charset="0"/>
                <a:cs typeface="Arial" panose="020B0604020202020204" pitchFamily="34" charset="0"/>
              </a:rPr>
              <a:t>non-modifiable risk factors</a:t>
            </a:r>
            <a:r>
              <a:rPr lang="en-US" sz="800" dirty="0">
                <a:latin typeface="Arial" panose="020B0604020202020204" pitchFamily="34" charset="0"/>
                <a:cs typeface="Arial" panose="020B0604020202020204" pitchFamily="34" charset="0"/>
              </a:rPr>
              <a:t> (risk factors that could </a:t>
            </a:r>
            <a:r>
              <a:rPr lang="en-US" sz="800" u="sng" dirty="0">
                <a:latin typeface="Arial" panose="020B0604020202020204" pitchFamily="34" charset="0"/>
                <a:cs typeface="Arial" panose="020B0604020202020204" pitchFamily="34" charset="0"/>
              </a:rPr>
              <a:t>not</a:t>
            </a:r>
            <a:r>
              <a:rPr lang="en-US" sz="800" dirty="0">
                <a:latin typeface="Arial" panose="020B0604020202020204" pitchFamily="34" charset="0"/>
                <a:cs typeface="Arial" panose="020B0604020202020204" pitchFamily="34" charset="0"/>
              </a:rPr>
              <a:t> have been modified) and “</a:t>
            </a:r>
            <a:r>
              <a:rPr lang="en-US" sz="800" b="1" dirty="0">
                <a:latin typeface="Arial" panose="020B0604020202020204" pitchFamily="34" charset="0"/>
                <a:cs typeface="Arial" panose="020B0604020202020204" pitchFamily="34" charset="0"/>
              </a:rPr>
              <a:t>missed opportunities</a:t>
            </a:r>
            <a:r>
              <a:rPr lang="en-US" sz="800" dirty="0">
                <a:latin typeface="Arial" panose="020B0604020202020204" pitchFamily="34" charset="0"/>
                <a:cs typeface="Arial" panose="020B0604020202020204" pitchFamily="34" charset="0"/>
              </a:rPr>
              <a:t>” (risk factors that </a:t>
            </a:r>
            <a:r>
              <a:rPr lang="en-US" sz="800" u="sng" dirty="0">
                <a:latin typeface="Arial" panose="020B0604020202020204" pitchFamily="34" charset="0"/>
                <a:cs typeface="Arial" panose="020B0604020202020204" pitchFamily="34" charset="0"/>
              </a:rPr>
              <a:t>could have</a:t>
            </a:r>
            <a:r>
              <a:rPr lang="en-US" sz="800" dirty="0">
                <a:latin typeface="Arial" panose="020B0604020202020204" pitchFamily="34" charset="0"/>
                <a:cs typeface="Arial" panose="020B0604020202020204" pitchFamily="34" charset="0"/>
              </a:rPr>
              <a:t> been modified </a:t>
            </a:r>
            <a:r>
              <a:rPr lang="en-US" sz="800" i="1" dirty="0">
                <a:latin typeface="Arial" panose="020B0604020202020204" pitchFamily="34" charset="0"/>
                <a:cs typeface="Arial" panose="020B0604020202020204" pitchFamily="34" charset="0"/>
              </a:rPr>
              <a:t>in the health care system where the case took place</a:t>
            </a:r>
            <a:r>
              <a:rPr lang="en-US" sz="800" dirty="0">
                <a:latin typeface="Arial" panose="020B0604020202020204" pitchFamily="34" charset="0"/>
                <a:cs typeface="Arial" panose="020B0604020202020204" pitchFamily="34" charset="0"/>
              </a:rPr>
              <a:t> but were not).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 </a:t>
            </a:r>
            <a:r>
              <a:rPr lang="en-US" sz="800" b="1" dirty="0">
                <a:latin typeface="Arial" panose="020B0604020202020204" pitchFamily="34" charset="0"/>
                <a:cs typeface="Arial" panose="020B0604020202020204" pitchFamily="34" charset="0"/>
              </a:rPr>
              <a:t>protective factor </a:t>
            </a:r>
            <a:r>
              <a:rPr lang="en-US" sz="800" dirty="0">
                <a:latin typeface="Arial" panose="020B0604020202020204" pitchFamily="34" charset="0"/>
                <a:cs typeface="Arial" panose="020B0604020202020204" pitchFamily="34" charset="0"/>
              </a:rPr>
              <a:t>decreases risk/probability of the primary event occurring, but does not make the primary event inevitable.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 </a:t>
            </a:r>
            <a:r>
              <a:rPr lang="en-US" sz="800" b="1" dirty="0">
                <a:latin typeface="Arial" panose="020B0604020202020204" pitchFamily="34" charset="0"/>
                <a:cs typeface="Arial" panose="020B0604020202020204" pitchFamily="34" charset="0"/>
              </a:rPr>
              <a:t>necessary factor</a:t>
            </a:r>
            <a:r>
              <a:rPr lang="en-US" sz="800" dirty="0">
                <a:latin typeface="Arial" panose="020B0604020202020204" pitchFamily="34" charset="0"/>
                <a:cs typeface="Arial" panose="020B0604020202020204" pitchFamily="34" charset="0"/>
              </a:rPr>
              <a:t> is something necessary for the primary event to occur. For example, an iatrogenic intraoperative skin burn would not have occurred without the presence of a Bovie electrocautery, laparoscopic light, or other energy source. Test for a necessary factor by asking if it would have been </a:t>
            </a:r>
            <a:r>
              <a:rPr lang="en-US" sz="800" i="1" dirty="0">
                <a:latin typeface="Arial" panose="020B0604020202020204" pitchFamily="34" charset="0"/>
                <a:cs typeface="Arial" panose="020B0604020202020204" pitchFamily="34" charset="0"/>
              </a:rPr>
              <a:t>impossible </a:t>
            </a:r>
            <a:r>
              <a:rPr lang="en-US" sz="800" dirty="0">
                <a:latin typeface="Arial" panose="020B0604020202020204" pitchFamily="34" charset="0"/>
                <a:cs typeface="Arial" panose="020B0604020202020204" pitchFamily="34" charset="0"/>
              </a:rPr>
              <a:t>for the primary event to have occurred if the necessary factor had been </a:t>
            </a:r>
            <a:r>
              <a:rPr lang="en-US" sz="800" i="1" dirty="0">
                <a:latin typeface="Arial" panose="020B0604020202020204" pitchFamily="34" charset="0"/>
                <a:cs typeface="Arial" panose="020B0604020202020204" pitchFamily="34" charset="0"/>
              </a:rPr>
              <a:t>absent</a:t>
            </a:r>
            <a:r>
              <a:rPr lang="en-US" sz="800" dirty="0">
                <a:latin typeface="Arial" panose="020B0604020202020204" pitchFamily="34" charset="0"/>
                <a:cs typeface="Arial" panose="020B0604020202020204" pitchFamily="34" charset="0"/>
              </a:rPr>
              <a:t>.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Many factors that might be classified as necessary are an essential part of contemporary vascular surgery practice, so please only include “</a:t>
            </a:r>
            <a:r>
              <a:rPr lang="en-US" sz="800" b="1" dirty="0">
                <a:latin typeface="Arial" panose="020B0604020202020204" pitchFamily="34" charset="0"/>
                <a:cs typeface="Arial" panose="020B0604020202020204" pitchFamily="34" charset="0"/>
              </a:rPr>
              <a:t>discretionary necessary factors</a:t>
            </a:r>
            <a:r>
              <a:rPr lang="en-US" sz="800" dirty="0">
                <a:latin typeface="Arial" panose="020B0604020202020204" pitchFamily="34" charset="0"/>
                <a:cs typeface="Arial" panose="020B0604020202020204" pitchFamily="34" charset="0"/>
              </a:rPr>
              <a:t>”: something necessary for the primary event to occur, but for which there is some acceptable alternative. An example of a discretionary necessary factor might be the decision to put a Jackson-Pratt drain in the case of a retained foreign body (drain fragment) following carotid endarterectomy. The decision to leave no drain would be the acceptable alternative.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A </a:t>
            </a:r>
            <a:r>
              <a:rPr lang="en-US" sz="800" b="1" dirty="0">
                <a:latin typeface="Arial" panose="020B0604020202020204" pitchFamily="34" charset="0"/>
                <a:cs typeface="Arial" panose="020B0604020202020204" pitchFamily="34" charset="0"/>
              </a:rPr>
              <a:t>sufficient factor</a:t>
            </a:r>
            <a:r>
              <a:rPr lang="en-US" sz="800" dirty="0">
                <a:latin typeface="Arial" panose="020B0604020202020204" pitchFamily="34" charset="0"/>
                <a:cs typeface="Arial" panose="020B0604020202020204" pitchFamily="34" charset="0"/>
              </a:rPr>
              <a:t> is something that can produce the primary event </a:t>
            </a:r>
            <a:r>
              <a:rPr lang="en-US" sz="800" u="sng" dirty="0">
                <a:latin typeface="Arial" panose="020B0604020202020204" pitchFamily="34" charset="0"/>
                <a:cs typeface="Arial" panose="020B0604020202020204" pitchFamily="34" charset="0"/>
              </a:rPr>
              <a:t>on its own</a:t>
            </a:r>
            <a:r>
              <a:rPr lang="en-US" sz="800" dirty="0">
                <a:latin typeface="Arial" panose="020B0604020202020204" pitchFamily="34" charset="0"/>
                <a:cs typeface="Arial" panose="020B0604020202020204" pitchFamily="34" charset="0"/>
              </a:rPr>
              <a:t> – i.e. even without any probabilistic factors present. Intraoperative contamination prior to a surgical site infection would be an example of a sufficient factor. Equipment issues and many “human factors” might be included here, including rules violations, communication problems, teamwork traps. </a:t>
            </a:r>
          </a:p>
          <a:p>
            <a:endParaRPr lang="en-US" sz="800" dirty="0">
              <a:latin typeface="Arial" panose="020B0604020202020204" pitchFamily="34" charset="0"/>
              <a:cs typeface="Arial" panose="020B0604020202020204" pitchFamily="34" charset="0"/>
            </a:endParaRPr>
          </a:p>
          <a:p>
            <a:r>
              <a:rPr lang="en-US" dirty="0"/>
              <a:t>The </a:t>
            </a:r>
            <a:r>
              <a:rPr lang="en-US" b="1" dirty="0"/>
              <a:t>primary event</a:t>
            </a:r>
            <a:r>
              <a:rPr lang="en-US" dirty="0"/>
              <a:t> is the primary pathophysiological, anatomic or other event that moved the trajectory of the outcome from expected/desired to unexpected/undesired. A surgical site infection, for example, is often a primary event.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Findings</a:t>
            </a:r>
            <a:r>
              <a:rPr lang="en-US" dirty="0"/>
              <a:t> are signs, representations, or other manifestations of a problem – not a problem itself. For example, fever and tachycardia can be a sign of surgical site infection (among other problems).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a:t>
            </a:r>
            <a:r>
              <a:rPr lang="en-US" b="1" dirty="0"/>
              <a:t>amplifying factor</a:t>
            </a:r>
            <a:r>
              <a:rPr lang="en-US" dirty="0"/>
              <a:t> is something that amplified the effects of the primary problem. This includes many of the “human factors”, such as planning, knowledge, cognitive bias in diagnosis, </a:t>
            </a:r>
          </a:p>
          <a:p>
            <a:endParaRPr lang="en-US" dirty="0"/>
          </a:p>
          <a:p>
            <a:r>
              <a:rPr lang="en-US" dirty="0"/>
              <a:t>A </a:t>
            </a:r>
            <a:r>
              <a:rPr lang="en-US" b="1" dirty="0"/>
              <a:t>downstream effects</a:t>
            </a:r>
            <a:r>
              <a:rPr lang="en-US" dirty="0"/>
              <a:t> are additional pathophysiological events enabled by the primary event. For example: a patient with advanced heart failure undergoes an angiogram, then has retroperitoneal bleeding (primary event) associated with the location of percutaneous access being in the distal external iliac artery. The blood and fluid given to treat the anemia and hypotension lead to pulmonary edema (secondary event), and reintubation (effects/manifestation of this secondary event).</a:t>
            </a:r>
          </a:p>
          <a:p>
            <a:endParaRPr lang="en-US" dirty="0"/>
          </a:p>
          <a:p>
            <a:r>
              <a:rPr lang="en-US" dirty="0"/>
              <a:t>_________________________________________________________</a:t>
            </a:r>
          </a:p>
          <a:p>
            <a:r>
              <a:rPr lang="en-US" sz="1200" b="0" i="0" dirty="0">
                <a:solidFill>
                  <a:srgbClr val="212121"/>
                </a:solidFill>
                <a:effectLst/>
                <a:latin typeface="Arial" panose="020B0604020202020204" pitchFamily="34" charset="0"/>
                <a:cs typeface="Arial" panose="020B0604020202020204" pitchFamily="34" charset="0"/>
              </a:rPr>
              <a:t>Suliburk JW, Buck QM, Pirko CJ, </a:t>
            </a:r>
            <a:r>
              <a:rPr lang="en-US" sz="1200" b="0" i="0" dirty="0" err="1">
                <a:solidFill>
                  <a:srgbClr val="212121"/>
                </a:solidFill>
                <a:effectLst/>
                <a:latin typeface="Arial" panose="020B0604020202020204" pitchFamily="34" charset="0"/>
                <a:cs typeface="Arial" panose="020B0604020202020204" pitchFamily="34" charset="0"/>
              </a:rPr>
              <a:t>Massarweh</a:t>
            </a:r>
            <a:r>
              <a:rPr lang="en-US" sz="1200" b="0" i="0" dirty="0">
                <a:solidFill>
                  <a:srgbClr val="212121"/>
                </a:solidFill>
                <a:effectLst/>
                <a:latin typeface="Arial" panose="020B0604020202020204" pitchFamily="34" charset="0"/>
                <a:cs typeface="Arial" panose="020B0604020202020204" pitchFamily="34" charset="0"/>
              </a:rPr>
              <a:t> NN, Barshes NR, Singh H, Rosengart TK. Analysis of Human Performance Deficiencies Associated With Surgical Adverse Events. </a:t>
            </a:r>
            <a:r>
              <a:rPr lang="en-US" sz="1200" b="0" i="1" dirty="0">
                <a:solidFill>
                  <a:srgbClr val="212121"/>
                </a:solidFill>
                <a:effectLst/>
                <a:latin typeface="Arial" panose="020B0604020202020204" pitchFamily="34" charset="0"/>
                <a:cs typeface="Arial" panose="020B0604020202020204" pitchFamily="34" charset="0"/>
              </a:rPr>
              <a:t>JAMA </a:t>
            </a:r>
            <a:r>
              <a:rPr lang="en-US" sz="1200" b="0" i="1" dirty="0" err="1">
                <a:solidFill>
                  <a:srgbClr val="212121"/>
                </a:solidFill>
                <a:effectLst/>
                <a:latin typeface="Arial" panose="020B0604020202020204" pitchFamily="34" charset="0"/>
                <a:cs typeface="Arial" panose="020B0604020202020204" pitchFamily="34" charset="0"/>
              </a:rPr>
              <a:t>Netw</a:t>
            </a:r>
            <a:r>
              <a:rPr lang="en-US" sz="1200" b="0" i="1" dirty="0">
                <a:solidFill>
                  <a:srgbClr val="212121"/>
                </a:solidFill>
                <a:effectLst/>
                <a:latin typeface="Arial" panose="020B0604020202020204" pitchFamily="34" charset="0"/>
                <a:cs typeface="Arial" panose="020B0604020202020204" pitchFamily="34" charset="0"/>
              </a:rPr>
              <a:t> Open</a:t>
            </a:r>
            <a:r>
              <a:rPr lang="en-US" sz="1200" b="0" i="0" dirty="0">
                <a:solidFill>
                  <a:srgbClr val="212121"/>
                </a:solidFill>
                <a:effectLst/>
                <a:latin typeface="Arial" panose="020B0604020202020204" pitchFamily="34" charset="0"/>
                <a:cs typeface="Arial" panose="020B0604020202020204" pitchFamily="34" charset="0"/>
              </a:rPr>
              <a:t> 2019;2:e198067. PMID: 31365107.</a:t>
            </a:r>
            <a:endParaRPr lang="en-US" sz="1200" dirty="0">
              <a:latin typeface="Arial" panose="020B0604020202020204" pitchFamily="34" charset="0"/>
              <a:cs typeface="Arial" panose="020B0604020202020204" pitchFamily="34" charset="0"/>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2E0B202-2B20-9F93-D736-2CA010010D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31743D-965F-4E2B-A51F-B72A789B71D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7982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latin typeface="Arial" panose="020B0604020202020204" pitchFamily="34" charset="0"/>
                <a:cs typeface="Arial" panose="020B0604020202020204" pitchFamily="34" charset="0"/>
              </a:rPr>
              <a:t>Discuss what (if any) changes will be made in the future. Be realistic; what can </a:t>
            </a:r>
            <a:r>
              <a:rPr lang="en-US" sz="800" i="1" dirty="0">
                <a:latin typeface="Arial" panose="020B0604020202020204" pitchFamily="34" charset="0"/>
                <a:cs typeface="Arial" panose="020B0604020202020204" pitchFamily="34" charset="0"/>
              </a:rPr>
              <a:t>actually</a:t>
            </a:r>
            <a:r>
              <a:rPr lang="en-US" sz="800" i="0" dirty="0">
                <a:latin typeface="Arial" panose="020B0604020202020204" pitchFamily="34" charset="0"/>
                <a:cs typeface="Arial" panose="020B0604020202020204" pitchFamily="34" charset="0"/>
              </a:rPr>
              <a:t> be going forward? Be specific, not general.</a:t>
            </a:r>
            <a:endParaRPr lang="en-US" sz="800" dirty="0">
              <a:latin typeface="Arial" panose="020B0604020202020204" pitchFamily="34" charset="0"/>
              <a:cs typeface="Arial" panose="020B0604020202020204" pitchFamily="34" charset="0"/>
            </a:endParaRP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“Made durable by”: how will this knowledge be disseminated? How will the change be made reliable, so that everyone will know/do this?</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Focus on the one most relevant study on recognizing, preventing, or treating this complication.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Can briefly describe other studies to point out similarities or differences, but better to go through one in depth than five at a superficial level.</a:t>
            </a:r>
          </a:p>
          <a:p>
            <a:endParaRPr lang="en-US" sz="800"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CB31743D-965F-4E2B-A51F-B72A789B71D9}" type="slidenum">
              <a:rPr lang="en-US" smtClean="0"/>
              <a:t>6</a:t>
            </a:fld>
            <a:endParaRPr lang="en-US"/>
          </a:p>
        </p:txBody>
      </p:sp>
    </p:spTree>
    <p:extLst>
      <p:ext uri="{BB962C8B-B14F-4D97-AF65-F5344CB8AC3E}">
        <p14:creationId xmlns:p14="http://schemas.microsoft.com/office/powerpoint/2010/main" val="937666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F90D-81BA-4E68-9F6E-C7D64C6301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D1AEEA-F77D-4D60-8CA9-060E1839A5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D4ABE8-D5C8-44DB-A7F4-C70A5BBFD173}"/>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CF6E1CD4-0ECB-4C2D-94DA-79D41A7F3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949314-ABCF-423B-A0B2-2C387CE4D7B2}"/>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752435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18F87-F348-4277-AE20-97BD6AE8FA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10A2D9-11FE-4EFD-9216-4EB294B86D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FF41AA-0CE6-48A4-A498-5E4A98109E57}"/>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7C510664-0423-495B-A816-2678ADED0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253E9-5E8D-464D-8A8D-0F6EC846C200}"/>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4255429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2042D-B04A-403E-99C1-34AB744E00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7DCCF2-D318-458A-BB78-376F8B5A4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0619FD-EE07-465E-98B2-BCD6095F9F7C}"/>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47E8E23A-9580-4AAF-A142-F33149409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6976C-6ACD-497A-B9E8-4A842788AFE7}"/>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99712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B0ED-C2AF-4688-92F1-B0E9E14F6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4790CD-7F65-4CF6-A2A6-9941F691FD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B15212-C280-4164-9A6A-2BDEFE26BC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B544D9-CE9C-40ED-8906-F1DA0A673BD7}"/>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6" name="Footer Placeholder 5">
            <a:extLst>
              <a:ext uri="{FF2B5EF4-FFF2-40B4-BE49-F238E27FC236}">
                <a16:creationId xmlns:a16="http://schemas.microsoft.com/office/drawing/2014/main" id="{112E1141-AAFE-4402-9E2D-1606D62E88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015FA0-6785-4FDA-8A9C-003E66CEC131}"/>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745101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15379-2F41-4907-932E-986644EDB6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E4DC61-B2FE-47B9-9782-79DE723BF9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1597D3-DB46-4AF7-A1FC-F2F92F35AD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F61273-6CAB-4446-B030-616082FD06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F6A0A-E02C-4360-B998-B9862B44F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08677D-8C79-4351-BA21-27B320724FF0}"/>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8" name="Footer Placeholder 7">
            <a:extLst>
              <a:ext uri="{FF2B5EF4-FFF2-40B4-BE49-F238E27FC236}">
                <a16:creationId xmlns:a16="http://schemas.microsoft.com/office/drawing/2014/main" id="{5E1D4562-8BC4-4921-AA2C-CEDACC022A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C0C2A6-77FE-460C-A4E3-538C60275A90}"/>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349631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CE99-022A-4C80-9A75-7527BF6C83C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B54080-5525-46FB-8B5F-D3ADD65F9F2C}"/>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4" name="Footer Placeholder 3">
            <a:extLst>
              <a:ext uri="{FF2B5EF4-FFF2-40B4-BE49-F238E27FC236}">
                <a16:creationId xmlns:a16="http://schemas.microsoft.com/office/drawing/2014/main" id="{B76D14F1-A71D-48BE-9F8A-FC9A2C3230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BAA9BD-2469-4E32-989C-1A954C7F24E4}"/>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953379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D2D5B7-4945-4644-9DB0-5AEDAE7FCCD6}"/>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3" name="Footer Placeholder 2">
            <a:extLst>
              <a:ext uri="{FF2B5EF4-FFF2-40B4-BE49-F238E27FC236}">
                <a16:creationId xmlns:a16="http://schemas.microsoft.com/office/drawing/2014/main" id="{3BAB944D-7037-4A54-9571-3BAC1BB41F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D07D7D-078D-4D64-84A1-0339620DBA11}"/>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1727604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217B-7E00-4D56-9BE2-6A13FFD938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AF736B-154C-4D21-BE9D-5FCCB90CF2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3FCFF1-3D76-4B61-AF90-21F353802D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64850-321A-4F23-832F-C629BF829461}"/>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6" name="Footer Placeholder 5">
            <a:extLst>
              <a:ext uri="{FF2B5EF4-FFF2-40B4-BE49-F238E27FC236}">
                <a16:creationId xmlns:a16="http://schemas.microsoft.com/office/drawing/2014/main" id="{131F5847-DFA6-496E-A65B-962416E192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C28EE-2A6E-4084-919F-EDFEDAFE171C}"/>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1969280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AE15D-8FB9-4253-A8D5-161636AFD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367F47-88F1-42B8-9C71-B54DCA640B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BC53A4-0CF0-4513-9A0F-AA4876C4F8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FA1CB1-E4E2-4475-B0EB-C2385E37BA57}"/>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6" name="Footer Placeholder 5">
            <a:extLst>
              <a:ext uri="{FF2B5EF4-FFF2-40B4-BE49-F238E27FC236}">
                <a16:creationId xmlns:a16="http://schemas.microsoft.com/office/drawing/2014/main" id="{3B0E331C-98FC-4EBD-A115-50985B35AF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FFA532-6B30-475E-8996-673C3CAEB2E4}"/>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419360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E8800-D2DD-4046-AFE8-AF4112884B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082CF4-2ECC-4EEF-BEF5-61F747CA17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3A0E9F-8248-4620-BAAF-0289FD750406}"/>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13D59429-B40E-4D5F-9726-C158B0A0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315E9-8298-4DAD-83AE-ACCE12EE2065}"/>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630966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E6E1B8-AFCA-4DF0-9195-13F5CF33B9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94B1A-DBBD-43EE-B08C-7FE365A876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88AAE-1AB0-4369-8A5E-7DD1D10AD760}"/>
              </a:ext>
            </a:extLst>
          </p:cNvPr>
          <p:cNvSpPr>
            <a:spLocks noGrp="1"/>
          </p:cNvSpPr>
          <p:nvPr>
            <p:ph type="dt" sz="half" idx="10"/>
          </p:nvPr>
        </p:nvSpPr>
        <p:spPr/>
        <p:txBody>
          <a:body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A38AB15B-2E0F-486C-B4C2-7C1558555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D6B86E-8EFA-4363-B970-8D7841F6DDBA}"/>
              </a:ext>
            </a:extLst>
          </p:cNvPr>
          <p:cNvSpPr>
            <a:spLocks noGrp="1"/>
          </p:cNvSpPr>
          <p:nvPr>
            <p:ph type="sldNum" sz="quarter" idx="12"/>
          </p:nvPr>
        </p:nvSpPr>
        <p:spPr/>
        <p:txBody>
          <a:bodyPr/>
          <a:lstStyle/>
          <a:p>
            <a:fld id="{93709A96-0AF8-4438-B48A-9ACE1EC76A44}" type="slidenum">
              <a:rPr lang="en-US" smtClean="0"/>
              <a:t>‹#›</a:t>
            </a:fld>
            <a:endParaRPr lang="en-US"/>
          </a:p>
        </p:txBody>
      </p:sp>
    </p:spTree>
    <p:extLst>
      <p:ext uri="{BB962C8B-B14F-4D97-AF65-F5344CB8AC3E}">
        <p14:creationId xmlns:p14="http://schemas.microsoft.com/office/powerpoint/2010/main" val="207786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D7A881-22F0-4A3A-837D-18832427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458425-EEC5-4F78-B1C4-02DF0380CB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7FC363-607F-4E00-91BB-FA89C01394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AA7DE6-C7DC-4DDD-8F7C-44503E3EDBA3}" type="datetimeFigureOut">
              <a:rPr lang="en-US" smtClean="0"/>
              <a:t>6/22/2026</a:t>
            </a:fld>
            <a:endParaRPr lang="en-US"/>
          </a:p>
        </p:txBody>
      </p:sp>
      <p:sp>
        <p:nvSpPr>
          <p:cNvPr id="5" name="Footer Placeholder 4">
            <a:extLst>
              <a:ext uri="{FF2B5EF4-FFF2-40B4-BE49-F238E27FC236}">
                <a16:creationId xmlns:a16="http://schemas.microsoft.com/office/drawing/2014/main" id="{0F1C8415-9C65-4557-AE8A-7AC0562A94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0C9EEB-13DF-4ECA-AE94-6C7D9F2B86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709A96-0AF8-4438-B48A-9ACE1EC76A44}" type="slidenum">
              <a:rPr lang="en-US" smtClean="0"/>
              <a:t>‹#›</a:t>
            </a:fld>
            <a:endParaRPr lang="en-US"/>
          </a:p>
        </p:txBody>
      </p:sp>
    </p:spTree>
    <p:extLst>
      <p:ext uri="{BB962C8B-B14F-4D97-AF65-F5344CB8AC3E}">
        <p14:creationId xmlns:p14="http://schemas.microsoft.com/office/powerpoint/2010/main" val="1661264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pic>
        <p:nvPicPr>
          <p:cNvPr id="21" name="Picture 20" descr="Text&#10;&#10;AI-generated content may be incorrect.">
            <a:extLst>
              <a:ext uri="{FF2B5EF4-FFF2-40B4-BE49-F238E27FC236}">
                <a16:creationId xmlns:a16="http://schemas.microsoft.com/office/drawing/2014/main" id="{0A84832F-D70D-5FFF-E15E-68FE10A3B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0658" y="444241"/>
            <a:ext cx="2664241" cy="6147781"/>
          </a:xfrm>
          <a:prstGeom prst="rect">
            <a:avLst/>
          </a:prstGeom>
        </p:spPr>
      </p:pic>
      <p:graphicFrame>
        <p:nvGraphicFramePr>
          <p:cNvPr id="2" name="Table 6">
            <a:extLst>
              <a:ext uri="{FF2B5EF4-FFF2-40B4-BE49-F238E27FC236}">
                <a16:creationId xmlns:a16="http://schemas.microsoft.com/office/drawing/2014/main" id="{64900DFE-3B39-2AC2-6601-CC4DA2B2F00F}"/>
              </a:ext>
            </a:extLst>
          </p:cNvPr>
          <p:cNvGraphicFramePr>
            <a:graphicFrameLocks noGrp="1"/>
          </p:cNvGraphicFramePr>
          <p:nvPr>
            <p:extLst>
              <p:ext uri="{D42A27DB-BD31-4B8C-83A1-F6EECF244321}">
                <p14:modId xmlns:p14="http://schemas.microsoft.com/office/powerpoint/2010/main" val="2352538827"/>
              </p:ext>
            </p:extLst>
          </p:nvPr>
        </p:nvGraphicFramePr>
        <p:xfrm>
          <a:off x="555607" y="3518131"/>
          <a:ext cx="7496312" cy="2286000"/>
        </p:xfrm>
        <a:graphic>
          <a:graphicData uri="http://schemas.openxmlformats.org/drawingml/2006/table">
            <a:tbl>
              <a:tblPr firstRow="1" bandRow="1">
                <a:tableStyleId>{2D5ABB26-0587-4C30-8999-92F81FD0307C}</a:tableStyleId>
              </a:tblPr>
              <a:tblGrid>
                <a:gridCol w="3195062">
                  <a:extLst>
                    <a:ext uri="{9D8B030D-6E8A-4147-A177-3AD203B41FA5}">
                      <a16:colId xmlns:a16="http://schemas.microsoft.com/office/drawing/2014/main" val="4032481633"/>
                    </a:ext>
                  </a:extLst>
                </a:gridCol>
                <a:gridCol w="4301250">
                  <a:extLst>
                    <a:ext uri="{9D8B030D-6E8A-4147-A177-3AD203B41FA5}">
                      <a16:colId xmlns:a16="http://schemas.microsoft.com/office/drawing/2014/main" val="483078826"/>
                    </a:ext>
                  </a:extLst>
                </a:gridCol>
              </a:tblGrid>
              <a:tr h="353300">
                <a:tc>
                  <a:txBody>
                    <a:bodyPr/>
                    <a:lstStyle/>
                    <a:p>
                      <a:r>
                        <a:rPr lang="en-US" sz="2400" b="0" dirty="0">
                          <a:latin typeface="Raleway" pitchFamily="2" charset="0"/>
                          <a:cs typeface="Arial" panose="020B0604020202020204" pitchFamily="34" charset="0"/>
                        </a:rPr>
                        <a:t>Hospital:</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MEDVAMC</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626078793"/>
                  </a:ext>
                </a:extLst>
              </a:tr>
              <a:tr h="353300">
                <a:tc>
                  <a:txBody>
                    <a:bodyPr/>
                    <a:lstStyle/>
                    <a:p>
                      <a:r>
                        <a:rPr lang="en-US" sz="2400" b="0" dirty="0">
                          <a:latin typeface="Raleway" pitchFamily="2" charset="0"/>
                          <a:cs typeface="Arial" panose="020B0604020202020204" pitchFamily="34" charset="0"/>
                        </a:rPr>
                        <a:t>Date:</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4228414925"/>
                  </a:ext>
                </a:extLst>
              </a:tr>
              <a:tr h="353300">
                <a:tc>
                  <a:txBody>
                    <a:bodyPr/>
                    <a:lstStyle/>
                    <a:p>
                      <a:r>
                        <a:rPr lang="en-US" sz="2400" b="0" dirty="0">
                          <a:latin typeface="Raleway" pitchFamily="2" charset="0"/>
                          <a:cs typeface="Arial" panose="020B0604020202020204" pitchFamily="34" charset="0"/>
                        </a:rPr>
                        <a:t>Faculty surgeon:</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352118761"/>
                  </a:ext>
                </a:extLst>
              </a:tr>
              <a:tr h="359558">
                <a:tc>
                  <a:txBody>
                    <a:bodyPr/>
                    <a:lstStyle/>
                    <a:p>
                      <a:r>
                        <a:rPr lang="en-US" sz="2400" b="0" dirty="0">
                          <a:latin typeface="Raleway" pitchFamily="2" charset="0"/>
                          <a:cs typeface="Arial" panose="020B0604020202020204" pitchFamily="34" charset="0"/>
                        </a:rPr>
                        <a:t>Trainee surgeon:</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80290266"/>
                  </a:ext>
                </a:extLst>
              </a:tr>
              <a:tr h="383043">
                <a:tc>
                  <a:txBody>
                    <a:bodyPr/>
                    <a:lstStyle/>
                    <a:p>
                      <a:r>
                        <a:rPr lang="en-US" sz="2400" b="0" dirty="0">
                          <a:latin typeface="Raleway" pitchFamily="2" charset="0"/>
                          <a:cs typeface="Arial" panose="020B0604020202020204" pitchFamily="34" charset="0"/>
                        </a:rPr>
                        <a:t>Presenting surgeon:</a:t>
                      </a: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tc>
                  <a:txBody>
                    <a:bodyPr/>
                    <a:lstStyle/>
                    <a:p>
                      <a:r>
                        <a:rPr lang="en-US" sz="2400" b="0" i="1" dirty="0">
                          <a:solidFill>
                            <a:schemeClr val="bg1">
                              <a:lumMod val="85000"/>
                            </a:schemeClr>
                          </a:solidFill>
                          <a:latin typeface="Raleway" pitchFamily="2" charset="0"/>
                          <a:cs typeface="Arial" panose="020B0604020202020204" pitchFamily="34" charset="0"/>
                        </a:rPr>
                        <a:t>text</a:t>
                      </a:r>
                      <a:endParaRPr lang="en-US" sz="2400" b="0" dirty="0">
                        <a:solidFill>
                          <a:schemeClr val="bg1">
                            <a:lumMod val="85000"/>
                          </a:schemeClr>
                        </a:solidFill>
                        <a:latin typeface="Raleway" pitchFamily="2" charset="0"/>
                        <a:cs typeface="Arial" panose="020B0604020202020204" pitchFamily="34" charset="0"/>
                      </a:endParaRPr>
                    </a:p>
                  </a:txBody>
                  <a:tcP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779119747"/>
                  </a:ext>
                </a:extLst>
              </a:tr>
            </a:tbl>
          </a:graphicData>
        </a:graphic>
      </p:graphicFrame>
      <p:sp>
        <p:nvSpPr>
          <p:cNvPr id="3" name="Title 1">
            <a:extLst>
              <a:ext uri="{FF2B5EF4-FFF2-40B4-BE49-F238E27FC236}">
                <a16:creationId xmlns:a16="http://schemas.microsoft.com/office/drawing/2014/main" id="{90D66404-DCBB-EDDC-F27A-C4F04C44B9C9}"/>
              </a:ext>
            </a:extLst>
          </p:cNvPr>
          <p:cNvSpPr>
            <a:spLocks noGrp="1"/>
          </p:cNvSpPr>
          <p:nvPr>
            <p:ph type="title"/>
          </p:nvPr>
        </p:nvSpPr>
        <p:spPr>
          <a:xfrm>
            <a:off x="555607" y="625673"/>
            <a:ext cx="7496312" cy="1971674"/>
          </a:xfrm>
          <a:noFill/>
          <a:ln>
            <a:noFill/>
          </a:ln>
          <a:effectLst>
            <a:outerShdw blurRad="50800" dist="76200" dir="18900000" algn="bl" rotWithShape="0">
              <a:prstClr val="black">
                <a:alpha val="40000"/>
              </a:prstClr>
            </a:outerShdw>
          </a:effectLst>
        </p:spPr>
        <p:txBody>
          <a:bodyPr>
            <a:normAutofit/>
          </a:bodyPr>
          <a:lstStyle/>
          <a:p>
            <a:r>
              <a:rPr lang="en-US" sz="4000" dirty="0">
                <a:solidFill>
                  <a:srgbClr val="FF9933"/>
                </a:solidFill>
                <a:latin typeface="Aptos" panose="020B0004020202020204" pitchFamily="34" charset="0"/>
              </a:rPr>
              <a:t>___(complication[s]) after ____(procedure)</a:t>
            </a:r>
          </a:p>
        </p:txBody>
      </p:sp>
    </p:spTree>
    <p:extLst>
      <p:ext uri="{BB962C8B-B14F-4D97-AF65-F5344CB8AC3E}">
        <p14:creationId xmlns:p14="http://schemas.microsoft.com/office/powerpoint/2010/main" val="1259118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6E079-FA05-E39A-FA74-B8504B57048A}"/>
              </a:ext>
            </a:extLst>
          </p:cNvPr>
          <p:cNvSpPr>
            <a:spLocks noGrp="1"/>
          </p:cNvSpPr>
          <p:nvPr>
            <p:ph type="title"/>
          </p:nvPr>
        </p:nvSpPr>
        <p:spPr>
          <a:xfrm>
            <a:off x="185057" y="119856"/>
            <a:ext cx="10515600" cy="954202"/>
          </a:xfrm>
        </p:spPr>
        <p:txBody>
          <a:bodyPr>
            <a:normAutofit/>
          </a:bodyPr>
          <a:lstStyle/>
          <a:p>
            <a:r>
              <a:rPr lang="en-US" sz="2800" dirty="0">
                <a:solidFill>
                  <a:schemeClr val="bg1">
                    <a:lumMod val="65000"/>
                  </a:schemeClr>
                </a:solidFill>
                <a:latin typeface="Raleway" pitchFamily="2" charset="0"/>
              </a:rPr>
              <a:t>1. </a:t>
            </a:r>
            <a:r>
              <a:rPr lang="en-US" sz="3200" dirty="0">
                <a:solidFill>
                  <a:schemeClr val="bg1">
                    <a:lumMod val="65000"/>
                  </a:schemeClr>
                </a:solidFill>
                <a:latin typeface="Raleway" pitchFamily="2" charset="0"/>
              </a:rPr>
              <a:t>Presentation</a:t>
            </a:r>
            <a:endParaRPr lang="en-US" sz="2400" dirty="0">
              <a:solidFill>
                <a:schemeClr val="bg1">
                  <a:lumMod val="65000"/>
                </a:schemeClr>
              </a:solidFill>
              <a:latin typeface="Raleway" pitchFamily="2" charset="0"/>
            </a:endParaRPr>
          </a:p>
        </p:txBody>
      </p:sp>
      <p:sp>
        <p:nvSpPr>
          <p:cNvPr id="3" name="Content Placeholder 2">
            <a:extLst>
              <a:ext uri="{FF2B5EF4-FFF2-40B4-BE49-F238E27FC236}">
                <a16:creationId xmlns:a16="http://schemas.microsoft.com/office/drawing/2014/main" id="{4C7E666C-BBD5-7BD8-6EDB-77D125A14F3C}"/>
              </a:ext>
            </a:extLst>
          </p:cNvPr>
          <p:cNvSpPr>
            <a:spLocks noGrp="1"/>
          </p:cNvSpPr>
          <p:nvPr>
            <p:ph idx="1"/>
          </p:nvPr>
        </p:nvSpPr>
        <p:spPr>
          <a:xfrm>
            <a:off x="518886" y="1419225"/>
            <a:ext cx="10515600" cy="4351338"/>
          </a:xfrm>
        </p:spPr>
        <p:txBody>
          <a:bodyPr>
            <a:normAutofit/>
          </a:bodyPr>
          <a:lstStyle/>
          <a:p>
            <a:r>
              <a:rPr lang="en-US" sz="2400" dirty="0">
                <a:solidFill>
                  <a:schemeClr val="bg1">
                    <a:lumMod val="85000"/>
                  </a:schemeClr>
                </a:solidFill>
                <a:latin typeface="Neue Haas Grotesk Text Pro" panose="020B0504020202020204" pitchFamily="34" charset="0"/>
              </a:rPr>
              <a:t>Selected &amp; important </a:t>
            </a:r>
            <a:r>
              <a:rPr lang="en-US" sz="2400" i="1" dirty="0">
                <a:solidFill>
                  <a:schemeClr val="bg1">
                    <a:lumMod val="85000"/>
                  </a:schemeClr>
                </a:solidFill>
                <a:latin typeface="Neue Haas Grotesk Text Pro" panose="020B0504020202020204" pitchFamily="34" charset="0"/>
              </a:rPr>
              <a:t>phrases</a:t>
            </a:r>
            <a:r>
              <a:rPr lang="en-US" sz="2400" dirty="0">
                <a:solidFill>
                  <a:schemeClr val="bg1">
                    <a:lumMod val="85000"/>
                  </a:schemeClr>
                </a:solidFill>
                <a:latin typeface="Neue Haas Grotesk Text Pro" panose="020B0504020202020204" pitchFamily="34" charset="0"/>
              </a:rPr>
              <a:t> for HPI</a:t>
            </a:r>
          </a:p>
          <a:p>
            <a:r>
              <a:rPr lang="en-US" sz="2400" i="1" dirty="0">
                <a:solidFill>
                  <a:schemeClr val="bg1">
                    <a:lumMod val="85000"/>
                  </a:schemeClr>
                </a:solidFill>
                <a:latin typeface="Neue Haas Grotesk Text Pro" panose="020B0504020202020204" pitchFamily="34" charset="0"/>
              </a:rPr>
              <a:t>Relevant </a:t>
            </a:r>
            <a:r>
              <a:rPr lang="en-US" sz="2400" dirty="0">
                <a:solidFill>
                  <a:schemeClr val="bg1">
                    <a:lumMod val="85000"/>
                  </a:schemeClr>
                </a:solidFill>
                <a:latin typeface="Neue Haas Grotesk Text Pro" panose="020B0504020202020204" pitchFamily="34" charset="0"/>
              </a:rPr>
              <a:t>history</a:t>
            </a:r>
          </a:p>
          <a:p>
            <a:r>
              <a:rPr lang="en-US" sz="2400" i="1" dirty="0">
                <a:solidFill>
                  <a:schemeClr val="bg1">
                    <a:lumMod val="85000"/>
                  </a:schemeClr>
                </a:solidFill>
                <a:latin typeface="Neue Haas Grotesk Text Pro" panose="020B0504020202020204" pitchFamily="34" charset="0"/>
              </a:rPr>
              <a:t>Relevant</a:t>
            </a:r>
            <a:r>
              <a:rPr lang="en-US" sz="2400" dirty="0">
                <a:solidFill>
                  <a:schemeClr val="bg1">
                    <a:lumMod val="85000"/>
                  </a:schemeClr>
                </a:solidFill>
                <a:latin typeface="Neue Haas Grotesk Text Pro" panose="020B0504020202020204" pitchFamily="34" charset="0"/>
              </a:rPr>
              <a:t> Labs/imaging studies</a:t>
            </a:r>
          </a:p>
          <a:p>
            <a:r>
              <a:rPr lang="en-US" sz="2400" dirty="0">
                <a:solidFill>
                  <a:schemeClr val="bg1">
                    <a:lumMod val="85000"/>
                  </a:schemeClr>
                </a:solidFill>
                <a:latin typeface="Neue Haas Grotesk Text Pro" panose="020B0504020202020204" pitchFamily="34" charset="0"/>
              </a:rPr>
              <a:t>Indication for initial intervention (if there was one):</a:t>
            </a:r>
          </a:p>
          <a:p>
            <a:endParaRPr lang="en-US" dirty="0">
              <a:solidFill>
                <a:schemeClr val="bg1">
                  <a:lumMod val="85000"/>
                </a:schemeClr>
              </a:solidFill>
            </a:endParaRPr>
          </a:p>
          <a:p>
            <a:pPr marL="0" indent="0">
              <a:buNone/>
            </a:pPr>
            <a:r>
              <a:rPr lang="en-US" sz="4000" b="1" u="sng" dirty="0">
                <a:solidFill>
                  <a:schemeClr val="bg1">
                    <a:lumMod val="85000"/>
                  </a:schemeClr>
                </a:solidFill>
              </a:rPr>
              <a:t>18 total word maximum limit</a:t>
            </a:r>
          </a:p>
        </p:txBody>
      </p:sp>
    </p:spTree>
    <p:extLst>
      <p:ext uri="{BB962C8B-B14F-4D97-AF65-F5344CB8AC3E}">
        <p14:creationId xmlns:p14="http://schemas.microsoft.com/office/powerpoint/2010/main" val="921827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6C72-1DF1-5846-3957-9D6B623ECC46}"/>
              </a:ext>
            </a:extLst>
          </p:cNvPr>
          <p:cNvSpPr>
            <a:spLocks noGrp="1"/>
          </p:cNvSpPr>
          <p:nvPr>
            <p:ph type="title"/>
          </p:nvPr>
        </p:nvSpPr>
        <p:spPr>
          <a:xfrm>
            <a:off x="185057" y="119856"/>
            <a:ext cx="10515600" cy="954202"/>
          </a:xfrm>
        </p:spPr>
        <p:txBody>
          <a:bodyPr>
            <a:normAutofit/>
          </a:bodyPr>
          <a:lstStyle/>
          <a:p>
            <a:r>
              <a:rPr lang="en-US" sz="2800" dirty="0">
                <a:solidFill>
                  <a:schemeClr val="bg1">
                    <a:lumMod val="95000"/>
                  </a:schemeClr>
                </a:solidFill>
                <a:latin typeface="Raleway" pitchFamily="2" charset="0"/>
              </a:rPr>
              <a:t>2. </a:t>
            </a:r>
            <a:r>
              <a:rPr lang="en-US" sz="3200" dirty="0">
                <a:solidFill>
                  <a:schemeClr val="bg1">
                    <a:lumMod val="95000"/>
                  </a:schemeClr>
                </a:solidFill>
                <a:latin typeface="Raleway" pitchFamily="2" charset="0"/>
              </a:rPr>
              <a:t>Imaging</a:t>
            </a:r>
            <a:endParaRPr lang="en-US" sz="2800" dirty="0">
              <a:solidFill>
                <a:schemeClr val="bg1">
                  <a:lumMod val="95000"/>
                </a:schemeClr>
              </a:solidFill>
              <a:latin typeface="Raleway" pitchFamily="2" charset="0"/>
            </a:endParaRPr>
          </a:p>
        </p:txBody>
      </p:sp>
      <p:sp>
        <p:nvSpPr>
          <p:cNvPr id="3" name="TextBox 2">
            <a:extLst>
              <a:ext uri="{FF2B5EF4-FFF2-40B4-BE49-F238E27FC236}">
                <a16:creationId xmlns:a16="http://schemas.microsoft.com/office/drawing/2014/main" id="{376D2F81-0C97-9E82-725B-D2D0042C9A16}"/>
              </a:ext>
            </a:extLst>
          </p:cNvPr>
          <p:cNvSpPr txBox="1"/>
          <p:nvPr/>
        </p:nvSpPr>
        <p:spPr>
          <a:xfrm>
            <a:off x="567793" y="6158898"/>
            <a:ext cx="10774017" cy="276999"/>
          </a:xfrm>
          <a:prstGeom prst="rect">
            <a:avLst/>
          </a:prstGeom>
          <a:noFill/>
        </p:spPr>
        <p:txBody>
          <a:bodyPr wrap="square" rtlCol="0">
            <a:spAutoFit/>
          </a:bodyPr>
          <a:lstStyle/>
          <a:p>
            <a:pPr algn="ctr"/>
            <a:r>
              <a:rPr lang="en-US" sz="1200" dirty="0">
                <a:solidFill>
                  <a:schemeClr val="bg1">
                    <a:lumMod val="75000"/>
                  </a:schemeClr>
                </a:solidFill>
                <a:latin typeface="Arial" panose="020B0604020202020204" pitchFamily="34" charset="0"/>
                <a:cs typeface="Arial" panose="020B0604020202020204" pitchFamily="34" charset="0"/>
              </a:rPr>
              <a:t>Imaging modality (ex. CTA chest), how long before / after the operation it was obtained</a:t>
            </a:r>
          </a:p>
        </p:txBody>
      </p:sp>
    </p:spTree>
    <p:extLst>
      <p:ext uri="{BB962C8B-B14F-4D97-AF65-F5344CB8AC3E}">
        <p14:creationId xmlns:p14="http://schemas.microsoft.com/office/powerpoint/2010/main" val="1440871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a:extLst>
            <a:ext uri="{FF2B5EF4-FFF2-40B4-BE49-F238E27FC236}">
              <a16:creationId xmlns:a16="http://schemas.microsoft.com/office/drawing/2014/main" id="{2BC80946-4555-212E-8BE1-75B30DDCD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BED5D-E8A0-B651-C80A-B4B005348070}"/>
              </a:ext>
            </a:extLst>
          </p:cNvPr>
          <p:cNvSpPr>
            <a:spLocks noGrp="1"/>
          </p:cNvSpPr>
          <p:nvPr>
            <p:ph type="title"/>
          </p:nvPr>
        </p:nvSpPr>
        <p:spPr>
          <a:xfrm>
            <a:off x="185057" y="119856"/>
            <a:ext cx="10515600" cy="954202"/>
          </a:xfrm>
        </p:spPr>
        <p:txBody>
          <a:bodyPr>
            <a:normAutofit/>
          </a:bodyPr>
          <a:lstStyle/>
          <a:p>
            <a:r>
              <a:rPr lang="en-US" sz="2800" dirty="0">
                <a:solidFill>
                  <a:schemeClr val="bg1">
                    <a:lumMod val="65000"/>
                  </a:schemeClr>
                </a:solidFill>
                <a:latin typeface="Raleway" pitchFamily="2" charset="0"/>
              </a:rPr>
              <a:t>3. Timeline of observed events</a:t>
            </a:r>
            <a:endParaRPr lang="en-US" sz="2000" dirty="0">
              <a:solidFill>
                <a:schemeClr val="bg1">
                  <a:lumMod val="65000"/>
                </a:schemeClr>
              </a:solidFill>
              <a:latin typeface="Raleway" pitchFamily="2" charset="0"/>
            </a:endParaRPr>
          </a:p>
        </p:txBody>
      </p:sp>
      <p:graphicFrame>
        <p:nvGraphicFramePr>
          <p:cNvPr id="9" name="Table 8">
            <a:extLst>
              <a:ext uri="{FF2B5EF4-FFF2-40B4-BE49-F238E27FC236}">
                <a16:creationId xmlns:a16="http://schemas.microsoft.com/office/drawing/2014/main" id="{791183EF-E6D2-6AD9-DD34-76A9FB8DF491}"/>
              </a:ext>
            </a:extLst>
          </p:cNvPr>
          <p:cNvGraphicFramePr>
            <a:graphicFrameLocks noGrp="1"/>
          </p:cNvGraphicFramePr>
          <p:nvPr>
            <p:extLst>
              <p:ext uri="{D42A27DB-BD31-4B8C-83A1-F6EECF244321}">
                <p14:modId xmlns:p14="http://schemas.microsoft.com/office/powerpoint/2010/main" val="4162038127"/>
              </p:ext>
            </p:extLst>
          </p:nvPr>
        </p:nvGraphicFramePr>
        <p:xfrm>
          <a:off x="644939" y="1170241"/>
          <a:ext cx="10902122" cy="5265639"/>
        </p:xfrm>
        <a:graphic>
          <a:graphicData uri="http://schemas.openxmlformats.org/drawingml/2006/table">
            <a:tbl>
              <a:tblPr firstRow="1" bandRow="1">
                <a:tableStyleId>{5C22544A-7EE6-4342-B048-85BDC9FD1C3A}</a:tableStyleId>
              </a:tblPr>
              <a:tblGrid>
                <a:gridCol w="1806713">
                  <a:extLst>
                    <a:ext uri="{9D8B030D-6E8A-4147-A177-3AD203B41FA5}">
                      <a16:colId xmlns:a16="http://schemas.microsoft.com/office/drawing/2014/main" val="369449097"/>
                    </a:ext>
                  </a:extLst>
                </a:gridCol>
                <a:gridCol w="9095409">
                  <a:extLst>
                    <a:ext uri="{9D8B030D-6E8A-4147-A177-3AD203B41FA5}">
                      <a16:colId xmlns:a16="http://schemas.microsoft.com/office/drawing/2014/main" val="294195503"/>
                    </a:ext>
                  </a:extLst>
                </a:gridCol>
              </a:tblGrid>
              <a:tr h="513951">
                <a:tc>
                  <a:txBody>
                    <a:bodyPr/>
                    <a:lstStyle/>
                    <a:p>
                      <a:r>
                        <a:rPr lang="en-US" b="0" i="1" dirty="0">
                          <a:solidFill>
                            <a:schemeClr val="bg1">
                              <a:lumMod val="50000"/>
                            </a:schemeClr>
                          </a:solidFill>
                          <a:latin typeface="Neue Haas Grotesk Text Pro" panose="020B0504020202020204" pitchFamily="34" charset="0"/>
                        </a:rPr>
                        <a:t>Post-operative day (POD)</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r>
                        <a:rPr lang="en-US" b="0" i="1" dirty="0">
                          <a:solidFill>
                            <a:schemeClr val="bg1">
                              <a:lumMod val="50000"/>
                            </a:schemeClr>
                          </a:solidFill>
                          <a:latin typeface="Neue Haas Grotesk Text Pro" panose="020B0504020202020204" pitchFamily="34" charset="0"/>
                        </a:rPr>
                        <a:t>Observed event</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369998631"/>
                  </a:ext>
                </a:extLst>
              </a:tr>
              <a:tr h="513951">
                <a:tc>
                  <a:txBody>
                    <a:bodyPr/>
                    <a:lstStyle/>
                    <a:p>
                      <a:r>
                        <a:rPr lang="en-US" dirty="0">
                          <a:solidFill>
                            <a:schemeClr val="bg1">
                              <a:lumMod val="95000"/>
                            </a:schemeClr>
                          </a:solidFill>
                          <a:latin typeface="Neue Haas Grotesk Text Pro" panose="020B0504020202020204" pitchFamily="34" charset="0"/>
                        </a:rPr>
                        <a:t>-2</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r>
                        <a:rPr lang="en-US" dirty="0">
                          <a:solidFill>
                            <a:schemeClr val="bg1">
                              <a:lumMod val="95000"/>
                            </a:schemeClr>
                          </a:solidFill>
                          <a:latin typeface="Neue Haas Grotesk Text Pro" panose="020B0504020202020204" pitchFamily="34" charset="0"/>
                        </a:rPr>
                        <a:t>Preadmission</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755234447"/>
                  </a:ext>
                </a:extLst>
              </a:tr>
              <a:tr h="513951">
                <a:tc>
                  <a:txBody>
                    <a:bodyPr/>
                    <a:lstStyle/>
                    <a:p>
                      <a:r>
                        <a:rPr lang="en-US" dirty="0">
                          <a:solidFill>
                            <a:schemeClr val="bg1">
                              <a:lumMod val="95000"/>
                            </a:schemeClr>
                          </a:solidFill>
                          <a:latin typeface="Neue Haas Grotesk Text Pro" panose="020B0504020202020204" pitchFamily="34" charset="0"/>
                        </a:rPr>
                        <a:t> 0</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r>
                        <a:rPr lang="en-US" dirty="0">
                          <a:solidFill>
                            <a:schemeClr val="bg1">
                              <a:lumMod val="95000"/>
                            </a:schemeClr>
                          </a:solidFill>
                          <a:latin typeface="Neue Haas Grotesk Text Pro" panose="020B0504020202020204" pitchFamily="34" charset="0"/>
                        </a:rPr>
                        <a:t>Common femoral endarterectomy</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923919756"/>
                  </a:ext>
                </a:extLst>
              </a:tr>
              <a:tr h="513951">
                <a:tc>
                  <a:txBody>
                    <a:bodyPr/>
                    <a:lstStyle/>
                    <a:p>
                      <a:r>
                        <a:rPr lang="en-US" dirty="0">
                          <a:solidFill>
                            <a:schemeClr val="bg1">
                              <a:lumMod val="95000"/>
                            </a:schemeClr>
                          </a:solidFill>
                          <a:latin typeface="Neue Haas Grotesk Text Pro" panose="020B0504020202020204" pitchFamily="34" charset="0"/>
                        </a:rPr>
                        <a:t>+1</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r>
                        <a:rPr lang="en-US" dirty="0" err="1">
                          <a:solidFill>
                            <a:schemeClr val="bg1">
                              <a:lumMod val="95000"/>
                            </a:schemeClr>
                          </a:solidFill>
                          <a:latin typeface="Neue Haas Grotesk Text Pro" panose="020B0504020202020204" pitchFamily="34" charset="0"/>
                        </a:rPr>
                        <a:t>Etc</a:t>
                      </a:r>
                      <a:r>
                        <a:rPr lang="en-US" dirty="0">
                          <a:solidFill>
                            <a:schemeClr val="bg1">
                              <a:lumMod val="95000"/>
                            </a:schemeClr>
                          </a:solidFill>
                          <a:latin typeface="Neue Haas Grotesk Text Pro" panose="020B0504020202020204" pitchFamily="34" charset="0"/>
                        </a:rPr>
                        <a:t> </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355056612"/>
                  </a:ext>
                </a:extLst>
              </a:tr>
              <a:tr h="513951">
                <a:tc>
                  <a:txBody>
                    <a:bodyPr/>
                    <a:lstStyle/>
                    <a:p>
                      <a:r>
                        <a:rPr lang="en-US" dirty="0">
                          <a:solidFill>
                            <a:schemeClr val="bg1">
                              <a:lumMod val="95000"/>
                            </a:schemeClr>
                          </a:solidFill>
                          <a:latin typeface="Neue Haas Grotesk Text Pro" panose="020B0504020202020204" pitchFamily="34" charset="0"/>
                        </a:rPr>
                        <a:t>+10</a:t>
                      </a: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r>
                        <a:rPr lang="en-US" dirty="0" err="1">
                          <a:solidFill>
                            <a:schemeClr val="bg1">
                              <a:lumMod val="95000"/>
                            </a:schemeClr>
                          </a:solidFill>
                          <a:latin typeface="Neue Haas Grotesk Text Pro" panose="020B0504020202020204" pitchFamily="34" charset="0"/>
                        </a:rPr>
                        <a:t>Etc</a:t>
                      </a:r>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1845773543"/>
                  </a:ext>
                </a:extLst>
              </a:tr>
              <a:tr h="513951">
                <a:tc>
                  <a:txBody>
                    <a:bodyPr/>
                    <a:lstStyle/>
                    <a:p>
                      <a:endParaRPr lang="en-US">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4101528392"/>
                  </a:ext>
                </a:extLst>
              </a:tr>
              <a:tr h="513951">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403798437"/>
                  </a:ext>
                </a:extLst>
              </a:tr>
              <a:tr h="513951">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2279839884"/>
                  </a:ext>
                </a:extLst>
              </a:tr>
              <a:tr h="513951">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983074533"/>
                  </a:ext>
                </a:extLst>
              </a:tr>
              <a:tr h="513951">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tc>
                  <a:txBody>
                    <a:bodyPr/>
                    <a:lstStyle/>
                    <a:p>
                      <a:endParaRPr lang="en-US" dirty="0">
                        <a:solidFill>
                          <a:schemeClr val="bg1">
                            <a:lumMod val="95000"/>
                          </a:schemeClr>
                        </a:solidFill>
                        <a:latin typeface="Neue Haas Grotesk Text Pro" panose="020B0504020202020204" pitchFamily="34" charset="0"/>
                      </a:endParaRPr>
                    </a:p>
                  </a:txBody>
                  <a:tcPr>
                    <a:lnL w="12700" cap="flat" cmpd="sng" algn="ctr">
                      <a:solidFill>
                        <a:schemeClr val="accent1">
                          <a:lumMod val="40000"/>
                          <a:lumOff val="60000"/>
                        </a:schemeClr>
                      </a:solidFill>
                      <a:prstDash val="solid"/>
                      <a:round/>
                      <a:headEnd type="none" w="med" len="med"/>
                      <a:tailEnd type="none" w="med" len="med"/>
                    </a:lnL>
                    <a:lnR w="12700" cap="flat" cmpd="sng" algn="ctr">
                      <a:solidFill>
                        <a:schemeClr val="accent1">
                          <a:lumMod val="40000"/>
                          <a:lumOff val="60000"/>
                        </a:schemeClr>
                      </a:solidFill>
                      <a:prstDash val="solid"/>
                      <a:round/>
                      <a:headEnd type="none" w="med" len="med"/>
                      <a:tailEnd type="none" w="med" len="med"/>
                    </a:lnR>
                    <a:lnT w="12700" cap="flat" cmpd="sng" algn="ctr">
                      <a:solidFill>
                        <a:schemeClr val="accent1">
                          <a:lumMod val="40000"/>
                          <a:lumOff val="60000"/>
                        </a:schemeClr>
                      </a:solidFill>
                      <a:prstDash val="solid"/>
                      <a:round/>
                      <a:headEnd type="none" w="med" len="med"/>
                      <a:tailEnd type="none" w="med" len="med"/>
                    </a:lnT>
                    <a:lnB w="12700" cap="flat" cmpd="sng" algn="ctr">
                      <a:solidFill>
                        <a:schemeClr val="accent1">
                          <a:lumMod val="40000"/>
                          <a:lumOff val="60000"/>
                        </a:schemeClr>
                      </a:solidFill>
                      <a:prstDash val="solid"/>
                      <a:round/>
                      <a:headEnd type="none" w="med" len="med"/>
                      <a:tailEnd type="none" w="med" len="med"/>
                    </a:lnB>
                    <a:noFill/>
                  </a:tcPr>
                </a:tc>
                <a:extLst>
                  <a:ext uri="{0D108BD9-81ED-4DB2-BD59-A6C34878D82A}">
                    <a16:rowId xmlns:a16="http://schemas.microsoft.com/office/drawing/2014/main" val="3606583465"/>
                  </a:ext>
                </a:extLst>
              </a:tr>
            </a:tbl>
          </a:graphicData>
        </a:graphic>
      </p:graphicFrame>
    </p:spTree>
    <p:extLst>
      <p:ext uri="{BB962C8B-B14F-4D97-AF65-F5344CB8AC3E}">
        <p14:creationId xmlns:p14="http://schemas.microsoft.com/office/powerpoint/2010/main" val="134326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a:extLst>
            <a:ext uri="{FF2B5EF4-FFF2-40B4-BE49-F238E27FC236}">
              <a16:creationId xmlns:a16="http://schemas.microsoft.com/office/drawing/2014/main" id="{5FA7E104-0114-9798-0C98-FF52DE31A5E2}"/>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AC9E6DD0-ADF3-A6A5-D0F4-029A1D49A3B7}"/>
              </a:ext>
            </a:extLst>
          </p:cNvPr>
          <p:cNvGrpSpPr/>
          <p:nvPr/>
        </p:nvGrpSpPr>
        <p:grpSpPr>
          <a:xfrm>
            <a:off x="0" y="337343"/>
            <a:ext cx="11914177" cy="6400800"/>
            <a:chOff x="397787" y="337343"/>
            <a:chExt cx="9502608" cy="6400800"/>
          </a:xfrm>
          <a:gradFill flip="none" rotWithShape="1">
            <a:gsLst>
              <a:gs pos="0">
                <a:srgbClr val="0F1F3D"/>
              </a:gs>
              <a:gs pos="50000">
                <a:schemeClr val="accent1">
                  <a:shade val="67500"/>
                  <a:satMod val="115000"/>
                </a:schemeClr>
              </a:gs>
              <a:gs pos="100000">
                <a:schemeClr val="accent1">
                  <a:shade val="100000"/>
                  <a:satMod val="115000"/>
                </a:schemeClr>
              </a:gs>
            </a:gsLst>
            <a:lin ang="19800000" scaled="0"/>
            <a:tileRect/>
          </a:gradFill>
        </p:grpSpPr>
        <p:sp>
          <p:nvSpPr>
            <p:cNvPr id="18" name="Arrow: Right 17">
              <a:extLst>
                <a:ext uri="{FF2B5EF4-FFF2-40B4-BE49-F238E27FC236}">
                  <a16:creationId xmlns:a16="http://schemas.microsoft.com/office/drawing/2014/main" id="{CFCAD5AE-62B7-E9AF-4FBA-2020399BEDE3}"/>
                </a:ext>
              </a:extLst>
            </p:cNvPr>
            <p:cNvSpPr/>
            <p:nvPr/>
          </p:nvSpPr>
          <p:spPr>
            <a:xfrm>
              <a:off x="2523201" y="2111897"/>
              <a:ext cx="7377194" cy="2851689"/>
            </a:xfrm>
            <a:prstGeom prst="rightArrow">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apezoid 19">
              <a:extLst>
                <a:ext uri="{FF2B5EF4-FFF2-40B4-BE49-F238E27FC236}">
                  <a16:creationId xmlns:a16="http://schemas.microsoft.com/office/drawing/2014/main" id="{AF4F2A48-2148-4956-1555-29282B1EF4B2}"/>
                </a:ext>
              </a:extLst>
            </p:cNvPr>
            <p:cNvSpPr/>
            <p:nvPr/>
          </p:nvSpPr>
          <p:spPr>
            <a:xfrm rot="5400000">
              <a:off x="-433222" y="1168352"/>
              <a:ext cx="6400800" cy="4738781"/>
            </a:xfrm>
            <a:prstGeom prst="trapezoid">
              <a:avLst>
                <a:gd name="adj" fmla="val 5279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le 1">
            <a:extLst>
              <a:ext uri="{FF2B5EF4-FFF2-40B4-BE49-F238E27FC236}">
                <a16:creationId xmlns:a16="http://schemas.microsoft.com/office/drawing/2014/main" id="{148C7AE6-D0EE-657A-2F9C-9EE58C5E68DA}"/>
              </a:ext>
            </a:extLst>
          </p:cNvPr>
          <p:cNvSpPr>
            <a:spLocks noGrp="1" noRot="1" noMove="1" noResize="1" noEditPoints="1" noAdjustHandles="1" noChangeArrowheads="1" noChangeShapeType="1"/>
          </p:cNvSpPr>
          <p:nvPr>
            <p:ph type="title"/>
          </p:nvPr>
        </p:nvSpPr>
        <p:spPr>
          <a:xfrm>
            <a:off x="277822" y="119857"/>
            <a:ext cx="10515600" cy="644140"/>
          </a:xfrm>
        </p:spPr>
        <p:txBody>
          <a:bodyPr>
            <a:normAutofit/>
          </a:bodyPr>
          <a:lstStyle/>
          <a:p>
            <a:r>
              <a:rPr lang="en-US" sz="2000" dirty="0">
                <a:solidFill>
                  <a:schemeClr val="bg1">
                    <a:lumMod val="65000"/>
                  </a:schemeClr>
                </a:solidFill>
                <a:latin typeface="Raleway" pitchFamily="2" charset="0"/>
              </a:rPr>
              <a:t>4. </a:t>
            </a:r>
            <a:r>
              <a:rPr lang="en-US" sz="2800" dirty="0">
                <a:solidFill>
                  <a:schemeClr val="bg1">
                    <a:lumMod val="65000"/>
                  </a:schemeClr>
                </a:solidFill>
                <a:latin typeface="Raleway" pitchFamily="2" charset="0"/>
              </a:rPr>
              <a:t>Causal pathway</a:t>
            </a:r>
            <a:endParaRPr lang="en-US" sz="2000" dirty="0">
              <a:solidFill>
                <a:schemeClr val="bg1">
                  <a:lumMod val="65000"/>
                </a:schemeClr>
              </a:solidFill>
              <a:latin typeface="Raleway" pitchFamily="2" charset="0"/>
            </a:endParaRPr>
          </a:p>
        </p:txBody>
      </p:sp>
      <p:graphicFrame>
        <p:nvGraphicFramePr>
          <p:cNvPr id="19" name="Table 18">
            <a:extLst>
              <a:ext uri="{FF2B5EF4-FFF2-40B4-BE49-F238E27FC236}">
                <a16:creationId xmlns:a16="http://schemas.microsoft.com/office/drawing/2014/main" id="{6964D683-1FAC-8C5A-A5D5-98A124465659}"/>
              </a:ext>
            </a:extLst>
          </p:cNvPr>
          <p:cNvGraphicFramePr>
            <a:graphicFrameLocks noGrp="1"/>
          </p:cNvGraphicFramePr>
          <p:nvPr>
            <p:extLst>
              <p:ext uri="{D42A27DB-BD31-4B8C-83A1-F6EECF244321}">
                <p14:modId xmlns:p14="http://schemas.microsoft.com/office/powerpoint/2010/main" val="2447751485"/>
              </p:ext>
            </p:extLst>
          </p:nvPr>
        </p:nvGraphicFramePr>
        <p:xfrm>
          <a:off x="397787" y="1079941"/>
          <a:ext cx="11516391" cy="5773430"/>
        </p:xfrm>
        <a:graphic>
          <a:graphicData uri="http://schemas.openxmlformats.org/drawingml/2006/table">
            <a:tbl>
              <a:tblPr firstRow="1" bandRow="1">
                <a:tableStyleId>{5C22544A-7EE6-4342-B048-85BDC9FD1C3A}</a:tableStyleId>
              </a:tblPr>
              <a:tblGrid>
                <a:gridCol w="1979990">
                  <a:extLst>
                    <a:ext uri="{9D8B030D-6E8A-4147-A177-3AD203B41FA5}">
                      <a16:colId xmlns:a16="http://schemas.microsoft.com/office/drawing/2014/main" val="1266665686"/>
                    </a:ext>
                  </a:extLst>
                </a:gridCol>
                <a:gridCol w="1979990">
                  <a:extLst>
                    <a:ext uri="{9D8B030D-6E8A-4147-A177-3AD203B41FA5}">
                      <a16:colId xmlns:a16="http://schemas.microsoft.com/office/drawing/2014/main" val="597312769"/>
                    </a:ext>
                  </a:extLst>
                </a:gridCol>
                <a:gridCol w="1979990">
                  <a:extLst>
                    <a:ext uri="{9D8B030D-6E8A-4147-A177-3AD203B41FA5}">
                      <a16:colId xmlns:a16="http://schemas.microsoft.com/office/drawing/2014/main" val="4139971937"/>
                    </a:ext>
                  </a:extLst>
                </a:gridCol>
                <a:gridCol w="1858807">
                  <a:extLst>
                    <a:ext uri="{9D8B030D-6E8A-4147-A177-3AD203B41FA5}">
                      <a16:colId xmlns:a16="http://schemas.microsoft.com/office/drawing/2014/main" val="3730995702"/>
                    </a:ext>
                  </a:extLst>
                </a:gridCol>
                <a:gridCol w="1858807">
                  <a:extLst>
                    <a:ext uri="{9D8B030D-6E8A-4147-A177-3AD203B41FA5}">
                      <a16:colId xmlns:a16="http://schemas.microsoft.com/office/drawing/2014/main" val="2308295811"/>
                    </a:ext>
                  </a:extLst>
                </a:gridCol>
                <a:gridCol w="1858807">
                  <a:extLst>
                    <a:ext uri="{9D8B030D-6E8A-4147-A177-3AD203B41FA5}">
                      <a16:colId xmlns:a16="http://schemas.microsoft.com/office/drawing/2014/main" val="178766565"/>
                    </a:ext>
                  </a:extLst>
                </a:gridCol>
              </a:tblGrid>
              <a:tr h="3951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rgbClr val="92D050"/>
                          </a:solidFill>
                          <a:effectLst/>
                          <a:uLnTx/>
                          <a:uFillTx/>
                          <a:latin typeface="Neue Haas Grotesk Text Pro" panose="020B0504020202020204" pitchFamily="34" charset="0"/>
                          <a:ea typeface="+mn-ea"/>
                          <a:cs typeface="+mn-cs"/>
                        </a:rPr>
                        <a:t>Protective factor(s)</a:t>
                      </a:r>
                      <a:r>
                        <a:rPr kumimoji="0" lang="en-US" sz="1400" b="0" i="1" u="none" strike="noStrike" kern="1200" cap="none" spc="0" normalizeH="0" baseline="0" noProof="0" dirty="0">
                          <a:ln>
                            <a:noFill/>
                          </a:ln>
                          <a:solidFill>
                            <a:srgbClr val="92D050"/>
                          </a:solidFill>
                          <a:effectLst/>
                          <a:uLnTx/>
                          <a:uFillTx/>
                          <a:latin typeface="Neue Haas Grotesk Text Pro" panose="020B0504020202020204" pitchFamily="34" charset="0"/>
                          <a:ea typeface="+mn-ea"/>
                          <a:cs typeface="+mn-cs"/>
                        </a:rPr>
                        <a:t>:</a:t>
                      </a:r>
                    </a:p>
                  </a:txBody>
                  <a:tcPr>
                    <a:lnL w="12700" cmpd="sng">
                      <a:noFill/>
                    </a:lnL>
                    <a:lnR w="12700" cmpd="sng">
                      <a:noFill/>
                    </a:lnR>
                    <a:lnT w="12700" cmpd="sng">
                      <a:noFill/>
                    </a:lnT>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rgbClr val="FF9933"/>
                          </a:solidFill>
                          <a:effectLst/>
                          <a:uLnTx/>
                          <a:uFillTx/>
                          <a:latin typeface="Neue Haas Grotesk Text Pro" panose="020B0504020202020204" pitchFamily="34" charset="0"/>
                          <a:ea typeface="+mn-ea"/>
                          <a:cs typeface="+mn-cs"/>
                        </a:rPr>
                        <a:t>Non-modifiable risk factor(s)</a:t>
                      </a:r>
                      <a:r>
                        <a:rPr kumimoji="0" lang="en-US" sz="1400" b="0" i="1" u="none" strike="noStrike" kern="1200" cap="none" spc="0" normalizeH="0" baseline="0" noProof="0" dirty="0">
                          <a:ln>
                            <a:noFill/>
                          </a:ln>
                          <a:solidFill>
                            <a:srgbClr val="FF9933"/>
                          </a:solidFill>
                          <a:effectLst/>
                          <a:uLnTx/>
                          <a:uFillTx/>
                          <a:latin typeface="Neue Haas Grotesk Text Pro" panose="020B0504020202020204" pitchFamily="34" charset="0"/>
                          <a:ea typeface="+mn-ea"/>
                          <a:cs typeface="+mn-cs"/>
                        </a:rPr>
                        <a: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rgbClr val="E7E6E6">
                              <a:lumMod val="90000"/>
                            </a:srgbClr>
                          </a:solidFill>
                          <a:effectLst/>
                          <a:uLnTx/>
                          <a:uFillTx/>
                          <a:latin typeface="Neue Haas Grotesk Text Pro" panose="020B0504020202020204" pitchFamily="34" charset="0"/>
                          <a:ea typeface="+mn-ea"/>
                          <a:cs typeface="+mn-cs"/>
                        </a:rPr>
                        <a:t>Discretionary necessary factor(s)</a:t>
                      </a:r>
                      <a:r>
                        <a:rPr kumimoji="0" lang="en-US" sz="1400" b="0" i="1" u="none" strike="noStrike" kern="1200" cap="none" spc="0" normalizeH="0" baseline="0" noProof="0" dirty="0">
                          <a:ln>
                            <a:noFill/>
                          </a:ln>
                          <a:solidFill>
                            <a:srgbClr val="E7E6E6">
                              <a:lumMod val="90000"/>
                            </a:srgbClr>
                          </a:solidFill>
                          <a:effectLst/>
                          <a:uLnTx/>
                          <a:uFillTx/>
                          <a:latin typeface="Neue Haas Grotesk Text Pro" panose="020B0504020202020204" pitchFamily="34" charset="0"/>
                          <a:ea typeface="+mn-ea"/>
                          <a:cs typeface="+mn-cs"/>
                        </a:rPr>
                        <a:t>:</a:t>
                      </a:r>
                    </a:p>
                  </a:txBody>
                  <a:tcPr>
                    <a:lnL w="12700" cmpd="sng">
                      <a:noFill/>
                    </a:lnL>
                    <a:lnR w="12700" cap="flat" cmpd="sng" algn="ctr">
                      <a:solidFill>
                        <a:schemeClr val="tx1">
                          <a:lumMod val="85000"/>
                          <a:lumOff val="15000"/>
                        </a:schemeClr>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FF00"/>
                          </a:solidFill>
                          <a:latin typeface="Neue Haas Grotesk Text Pro" panose="020B0504020202020204" pitchFamily="34" charset="0"/>
                        </a:rPr>
                        <a:t>Primary event:</a:t>
                      </a: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5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chemeClr val="accent2">
                              <a:lumMod val="75000"/>
                            </a:schemeClr>
                          </a:solidFill>
                          <a:effectLst/>
                          <a:uLnTx/>
                          <a:uFillTx/>
                          <a:latin typeface="Neue Haas Grotesk Text Pro" panose="020B0504020202020204" pitchFamily="34" charset="0"/>
                          <a:ea typeface="+mn-ea"/>
                          <a:cs typeface="+mn-cs"/>
                        </a:rPr>
                        <a:t>Findings, signs, manifestations</a:t>
                      </a:r>
                      <a:r>
                        <a:rPr kumimoji="0" lang="en-US" sz="1400" b="0" i="1" u="none" strike="noStrike" kern="1200" cap="none" spc="0" normalizeH="0" baseline="0" noProof="0" dirty="0">
                          <a:ln>
                            <a:noFill/>
                          </a:ln>
                          <a:solidFill>
                            <a:schemeClr val="accent2">
                              <a:lumMod val="75000"/>
                            </a:schemeClr>
                          </a:solidFill>
                          <a:effectLst/>
                          <a:uLnTx/>
                          <a:uFillTx/>
                          <a:latin typeface="Neue Haas Grotesk Text Pro" panose="020B0504020202020204" pitchFamily="34" charset="0"/>
                          <a:ea typeface="+mn-ea"/>
                          <a:cs typeface="+mn-cs"/>
                        </a:rPr>
                        <a:t>:</a:t>
                      </a:r>
                    </a:p>
                  </a:txBody>
                  <a:tcPr>
                    <a:lnL w="12700" cap="flat" cmpd="sng" algn="ctr">
                      <a:solidFill>
                        <a:schemeClr val="tx1">
                          <a:lumMod val="85000"/>
                          <a:lumOff val="15000"/>
                        </a:schemeClr>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en-US" sz="1400" b="0" dirty="0">
                        <a:solidFill>
                          <a:srgbClr val="FF0000"/>
                        </a:solidFill>
                        <a:latin typeface="Neue Haas Grotesk Text Pro" panose="020B05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62565882"/>
                  </a:ext>
                </a:extLst>
              </a:tr>
              <a:tr h="758064">
                <a:tc rowSpan="4">
                  <a:txBody>
                    <a:bodyPr/>
                    <a:lstStyle/>
                    <a:p>
                      <a:r>
                        <a:rPr lang="en-US" sz="1200" dirty="0">
                          <a:solidFill>
                            <a:schemeClr val="bg1"/>
                          </a:solidFill>
                          <a:latin typeface="Neue Haas Grotesk Text Pro" panose="020B0504020202020204" pitchFamily="34" charset="0"/>
                        </a:rPr>
                        <a:t>Alcohol and Chlorhexidine prep. Perioperative vancomycin and Ancef. Vancomycin powder in the wound. </a:t>
                      </a:r>
                      <a:r>
                        <a:rPr lang="en-US" sz="1200" dirty="0" err="1">
                          <a:solidFill>
                            <a:schemeClr val="bg1"/>
                          </a:solidFill>
                          <a:latin typeface="Neue Haas Grotesk Text Pro" panose="020B0504020202020204" pitchFamily="34" charset="0"/>
                        </a:rPr>
                        <a:t>Iincisional</a:t>
                      </a:r>
                      <a:r>
                        <a:rPr lang="en-US" sz="1200" dirty="0">
                          <a:solidFill>
                            <a:schemeClr val="bg1"/>
                          </a:solidFill>
                          <a:latin typeface="Neue Haas Grotesk Text Pro" panose="020B0504020202020204" pitchFamily="34" charset="0"/>
                        </a:rPr>
                        <a:t> wound VAC.</a:t>
                      </a:r>
                      <a:endParaRPr dirty="0">
                        <a:latin typeface="Neue Haas Grotesk Text Pro" panose="020B0504020202020204" pitchFamily="34" charset="0"/>
                      </a:endParaRPr>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rPr>
                        <a:t>Diabetes; obesity; longitudinal groin incision; hospital pre-admission; intraoperative transfusions; long operative duration.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rPr>
                        <a:t>Use of PTFE (rather than spliced arm veins)</a:t>
                      </a:r>
                    </a:p>
                  </a:txBody>
                  <a:tcPr>
                    <a:lnL w="12700" cmpd="sng">
                      <a:noFill/>
                    </a:lnL>
                    <a:lnR w="12700" cap="flat" cmpd="sng" algn="ctr">
                      <a:solidFill>
                        <a:schemeClr val="tx1">
                          <a:lumMod val="85000"/>
                          <a:lumOff val="1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vMerge="1">
                  <a:txBody>
                    <a:bodyPr/>
                    <a:lstStyle/>
                    <a:p>
                      <a:endParaRPr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50000"/>
                      </a:schemeClr>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Neue Haas Grotesk Text Pro" panose="020B0504020202020204" pitchFamily="34" charset="0"/>
                          <a:ea typeface="+mn-ea"/>
                          <a:cs typeface="+mn-cs"/>
                        </a:rPr>
                        <a:t>tachycardia.,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Neue Haas Grotesk Text Pro" panose="020B0504020202020204" pitchFamily="34" charset="0"/>
                          <a:ea typeface="+mn-ea"/>
                          <a:cs typeface="+mn-cs"/>
                        </a:rPr>
                        <a:t>fevers,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D7D31">
                              <a:lumMod val="75000"/>
                            </a:srgbClr>
                          </a:solidFill>
                          <a:effectLst/>
                          <a:uLnTx/>
                          <a:uFillTx/>
                          <a:latin typeface="Neue Haas Grotesk Text Pro" panose="020B0504020202020204" pitchFamily="34" charset="0"/>
                          <a:ea typeface="+mn-ea"/>
                          <a:cs typeface="+mn-cs"/>
                        </a:rPr>
                        <a:t>wound dehiscence, elevated procalcitonin</a:t>
                      </a:r>
                    </a:p>
                  </a:txBody>
                  <a:tcPr>
                    <a:lnL w="12700" cap="flat" cmpd="sng" algn="ctr">
                      <a:solidFill>
                        <a:schemeClr val="tx1">
                          <a:lumMod val="85000"/>
                          <a:lumOff val="1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rgbClr val="FFC000"/>
                          </a:solidFill>
                          <a:effectLst/>
                          <a:uLnTx/>
                          <a:uFillTx/>
                          <a:latin typeface="Neue Haas Grotesk Text Pro" panose="020B0504020202020204" pitchFamily="34" charset="0"/>
                          <a:ea typeface="+mn-ea"/>
                          <a:cs typeface="+mn-cs"/>
                        </a:rPr>
                        <a:t>Downstream Effects</a:t>
                      </a:r>
                      <a:r>
                        <a:rPr kumimoji="0" lang="en-US" sz="1400" b="0" i="1" u="none" strike="noStrike" kern="1200" cap="none" spc="0" normalizeH="0" baseline="0" noProof="0" dirty="0">
                          <a:ln>
                            <a:noFill/>
                          </a:ln>
                          <a:solidFill>
                            <a:srgbClr val="FFC000"/>
                          </a:solidFill>
                          <a:effectLst/>
                          <a:uLnTx/>
                          <a:uFillTx/>
                          <a:latin typeface="Neue Haas Grotesk Text Pro" panose="020B0504020202020204" pitchFamily="34" charset="0"/>
                          <a:ea typeface="+mn-ea"/>
                          <a:cs typeface="+mn-cs"/>
                        </a:rPr>
                        <a:t>:</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03514776"/>
                  </a:ext>
                </a:extLst>
              </a:tr>
              <a:tr h="126549">
                <a:tc vMerge="1">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srgbClr val="FF9933"/>
                          </a:solidFill>
                          <a:effectLst/>
                          <a:uLnTx/>
                          <a:uFillTx/>
                          <a:latin typeface="Neue Haas Grotesk Text Pro" panose="020B0504020202020204" pitchFamily="34" charset="0"/>
                          <a:ea typeface="+mn-ea"/>
                          <a:cs typeface="+mn-cs"/>
                        </a:rPr>
                        <a:t>Missed opportunities</a:t>
                      </a:r>
                      <a:r>
                        <a:rPr kumimoji="0" lang="en-US" sz="1400" b="0" i="1" u="none" strike="noStrike" kern="1200" cap="none" spc="0" normalizeH="0" baseline="0" noProof="0" dirty="0">
                          <a:ln>
                            <a:noFill/>
                          </a:ln>
                          <a:solidFill>
                            <a:srgbClr val="FF9933"/>
                          </a:solidFill>
                          <a:effectLst/>
                          <a:uLnTx/>
                          <a:uFillTx/>
                          <a:latin typeface="Neue Haas Grotesk Text Pro" panose="020B0504020202020204" pitchFamily="34" charset="0"/>
                          <a:ea typeface="+mn-ea"/>
                          <a:cs typeface="+mn-cs"/>
                        </a:rPr>
                        <a: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sng"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rPr>
                        <a:t>Sufficient factor(s)</a:t>
                      </a:r>
                      <a:r>
                        <a:rPr kumimoji="0" lang="en-US" sz="1400" b="0" i="1"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rPr>
                        <a:t>:</a:t>
                      </a:r>
                    </a:p>
                  </a:txBody>
                  <a:tcPr>
                    <a:lnL w="12700" cmpd="sng">
                      <a:noFill/>
                    </a:lnL>
                    <a:lnR w="12700" cap="flat" cmpd="sng" algn="ctr">
                      <a:solidFill>
                        <a:schemeClr val="tx1">
                          <a:lumMod val="85000"/>
                          <a:lumOff val="1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vMerge="1">
                  <a:txBody>
                    <a:bodyPr/>
                    <a:lstStyle/>
                    <a:p>
                      <a:endParaRPr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1" dirty="0">
                          <a:solidFill>
                            <a:srgbClr val="FFFF00"/>
                          </a:solidFill>
                          <a:latin typeface="Neue Haas Grotesk Text Pro" panose="020B0504020202020204" pitchFamily="34" charset="0"/>
                        </a:rPr>
                        <a:t>Amplifying factors: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Neue Haas Grotesk Text Pro" panose="020B0504020202020204" pitchFamily="34" charset="0"/>
                        </a:rPr>
                        <a:t>Anastomotic bleeding</a:t>
                      </a:r>
                      <a:r>
                        <a:rPr lang="en-US" sz="1400" b="0" dirty="0">
                          <a:solidFill>
                            <a:srgbClr val="FFC000"/>
                          </a:solidFill>
                          <a:latin typeface="Neue Haas Grotesk Text Pro" panose="020B0504020202020204" pitchFamily="34" charset="0"/>
                        </a:rPr>
                        <a:t>; multiple reoperations and transfusions; catheter-associated urinary tract infection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71295591"/>
                  </a:ext>
                </a:extLst>
              </a:tr>
              <a:tr h="230588">
                <a:tc vMerge="1">
                  <a:txBody>
                    <a:bodyPr/>
                    <a:lstStyle/>
                    <a:p>
                      <a:endParaRPr lang="en-US"/>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srgbClr val="FF9933"/>
                        </a:solidFill>
                        <a:effectLst/>
                        <a:uLnTx/>
                        <a:uFillTx/>
                        <a:latin typeface="Neue Haas Grotesk Text Pro" panose="020B050402020202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dirty="0">
                        <a:solidFill>
                          <a:srgbClr val="FFFF00"/>
                        </a:solidFill>
                        <a:latin typeface="Neue Haas Grotesk Text Pro" panose="020B05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i="1" u="sng" dirty="0">
                          <a:solidFill>
                            <a:srgbClr val="FFFF00"/>
                          </a:solidFill>
                          <a:latin typeface="Neue Haas Grotesk Text Pro" panose="020B0504020202020204" pitchFamily="34" charset="0"/>
                        </a:rPr>
                        <a:t>Amplifying factors</a:t>
                      </a:r>
                      <a:r>
                        <a:rPr lang="en-US" sz="1400" i="1" u="none" dirty="0">
                          <a:solidFill>
                            <a:srgbClr val="FFFF00"/>
                          </a:solidFill>
                          <a:latin typeface="Neue Haas Grotesk Text Pro" panose="020B0504020202020204" pitchFamily="34" charset="0"/>
                        </a:rPr>
                        <a:t>:</a:t>
                      </a:r>
                    </a:p>
                  </a:txBody>
                  <a:tcPr>
                    <a:lnL w="12700" cap="flat" cmpd="sng" algn="ctr">
                      <a:solidFill>
                        <a:schemeClr val="tx1">
                          <a:lumMod val="85000"/>
                          <a:lumOff val="1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rowSpan="2">
                  <a:txBody>
                    <a:bodyPr/>
                    <a:lstStyle/>
                    <a:p>
                      <a:r>
                        <a:rPr lang="en-US" sz="1800" b="1" dirty="0">
                          <a:solidFill>
                            <a:srgbClr val="FFC000"/>
                          </a:solidFill>
                          <a:latin typeface="Neue Haas Grotesk Text Pro" panose="020B0504020202020204" pitchFamily="34" charset="0"/>
                        </a:rPr>
                        <a:t>Anastomotic bleeding</a:t>
                      </a:r>
                      <a:r>
                        <a:rPr lang="en-US" sz="1400" b="0" dirty="0">
                          <a:solidFill>
                            <a:srgbClr val="FFC000"/>
                          </a:solidFill>
                          <a:latin typeface="Neue Haas Grotesk Text Pro" panose="020B0504020202020204" pitchFamily="34" charset="0"/>
                        </a:rPr>
                        <a:t>; multiple reoperations and transfusions; catheter-associated urinary tract infection</a:t>
                      </a:r>
                      <a:endParaRPr 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5255399"/>
                  </a:ext>
                </a:extLst>
              </a:tr>
              <a:tr h="1675075">
                <a:tc vMerge="1">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kumimoji="0" lang="en-US" sz="1200" b="0" i="0" u="none" strike="noStrike" kern="1200" cap="none" spc="0" normalizeH="0" baseline="0" noProof="0" dirty="0">
                          <a:ln>
                            <a:noFill/>
                          </a:ln>
                          <a:solidFill>
                            <a:prstClr val="white"/>
                          </a:solidFill>
                          <a:effectLst/>
                          <a:uLnTx/>
                          <a:uFillTx/>
                          <a:latin typeface="Neue Haas Grotesk Text Pro" panose="020B0504020202020204" pitchFamily="34" charset="0"/>
                          <a:ea typeface="+mn-ea"/>
                          <a:cs typeface="+mn-cs"/>
                        </a:rPr>
                        <a:t>Not given pre-operative skin and nasal decontamination. Smoking cessation for elective case. </a:t>
                      </a:r>
                      <a:endParaRPr lang="en-US"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r>
                        <a:rPr lang="en-US" sz="1400" dirty="0">
                          <a:solidFill>
                            <a:schemeClr val="bg1"/>
                          </a:solidFill>
                          <a:latin typeface="Neue Haas Grotesk Text Pro" panose="020B0504020202020204" pitchFamily="34" charset="0"/>
                        </a:rPr>
                        <a:t>none</a:t>
                      </a:r>
                    </a:p>
                  </a:txBody>
                  <a:tcPr>
                    <a:lnL w="12700" cmpd="sng">
                      <a:noFill/>
                    </a:lnL>
                    <a:lnR w="12700" cap="flat" cmpd="sng" algn="ctr">
                      <a:solidFill>
                        <a:schemeClr val="tx1">
                          <a:lumMod val="85000"/>
                          <a:lumOff val="15000"/>
                        </a:schemeClr>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dirty="0">
                          <a:solidFill>
                            <a:schemeClr val="tx1">
                              <a:lumMod val="95000"/>
                              <a:lumOff val="5000"/>
                            </a:schemeClr>
                          </a:solidFill>
                          <a:highlight>
                            <a:srgbClr val="FFFF00"/>
                          </a:highlight>
                          <a:latin typeface="Neue Haas Grotesk Text Pro" panose="020B0504020202020204" pitchFamily="34" charset="0"/>
                        </a:rPr>
                        <a:t>Prosthetic vascular graft infection</a:t>
                      </a:r>
                      <a:endParaRPr dirty="0">
                        <a:latin typeface="Neue Haas Grotesk Text Pro" panose="020B0504020202020204" pitchFamily="34" charset="0"/>
                      </a:endParaRPr>
                    </a:p>
                  </a:txBody>
                  <a:tcP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mpd="sng">
                      <a:noFill/>
                    </a:lnT>
                    <a:lnB w="12700" cap="flat" cmpd="sng" algn="ctr">
                      <a:solidFill>
                        <a:schemeClr val="tx1">
                          <a:lumMod val="85000"/>
                          <a:lumOff val="1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a:txBody>
                    <a:bodyPr/>
                    <a:lstStyle/>
                    <a:p>
                      <a:r>
                        <a:rPr lang="en-US" sz="1400" dirty="0">
                          <a:solidFill>
                            <a:srgbClr val="FFFF00"/>
                          </a:solidFill>
                          <a:latin typeface="Neue Haas Grotesk Text Pro" panose="020B0504020202020204" pitchFamily="34" charset="0"/>
                        </a:rPr>
                        <a:t>Delayed recognition (false assurance by normal WBC). Delay in treatment</a:t>
                      </a:r>
                      <a:endParaRPr sz="1400" dirty="0">
                        <a:solidFill>
                          <a:srgbClr val="FFFF00"/>
                        </a:solidFill>
                        <a:latin typeface="Neue Haas Grotesk Text Pro" panose="020B0504020202020204" pitchFamily="34" charset="0"/>
                      </a:endParaRPr>
                    </a:p>
                  </a:txBody>
                  <a:tcPr>
                    <a:lnL w="12700" cap="flat" cmpd="sng" algn="ctr">
                      <a:solidFill>
                        <a:schemeClr val="tx1">
                          <a:lumMod val="85000"/>
                          <a:lumOff val="15000"/>
                        </a:schemeClr>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3949296"/>
                  </a:ext>
                </a:extLst>
              </a:tr>
              <a:tr h="329446">
                <a:tc gridSpan="6">
                  <a:txBody>
                    <a:bodyPr/>
                    <a:lstStyle/>
                    <a:p>
                      <a:r>
                        <a:rPr lang="en-US" sz="1400" i="1" u="none" dirty="0">
                          <a:solidFill>
                            <a:schemeClr val="bg1">
                              <a:lumMod val="50000"/>
                            </a:schemeClr>
                          </a:solidFill>
                          <a:latin typeface="Neue Haas Grotesk Text Pro" panose="020B0504020202020204" pitchFamily="34" charset="0"/>
                        </a:rPr>
                        <a:t>Definitions:</a:t>
                      </a:r>
                    </a:p>
                  </a:txBody>
                  <a:tcPr anchor="b">
                    <a:lnL w="12700" cmpd="sng">
                      <a:noFill/>
                    </a:lnL>
                    <a:lnR w="12700" cmpd="sng">
                      <a:noFill/>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US" b="1" dirty="0">
                        <a:solidFill>
                          <a:schemeClr val="tx1">
                            <a:lumMod val="95000"/>
                            <a:lumOff val="5000"/>
                          </a:schemeClr>
                        </a:solidFill>
                        <a:highlight>
                          <a:srgbClr val="FFFF00"/>
                        </a:highlight>
                        <a:latin typeface="Aptos" panose="020B00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rgbClr val="FF000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5727592"/>
                  </a:ext>
                </a:extLst>
              </a:tr>
              <a:tr h="963597">
                <a:tc>
                  <a:txBody>
                    <a:bodyPr/>
                    <a:lstStyle/>
                    <a:p>
                      <a:r>
                        <a:rPr lang="en-US" sz="1100" b="0" dirty="0">
                          <a:solidFill>
                            <a:schemeClr val="bg1">
                              <a:lumMod val="50000"/>
                            </a:schemeClr>
                          </a:solidFill>
                          <a:latin typeface="Neue Haas Grotesk Text Pro" panose="020B0504020202020204" pitchFamily="34" charset="0"/>
                        </a:rPr>
                        <a:t>Reduced probability in this case. </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100" b="0" dirty="0">
                          <a:solidFill>
                            <a:schemeClr val="bg1">
                              <a:lumMod val="50000"/>
                            </a:schemeClr>
                          </a:solidFill>
                          <a:latin typeface="Neue Haas Grotesk Text Pro" panose="020B0504020202020204" pitchFamily="34" charset="0"/>
                        </a:rPr>
                        <a:t>Increased probability and could </a:t>
                      </a:r>
                      <a:r>
                        <a:rPr lang="en-US" sz="1100" b="0" u="sng" dirty="0">
                          <a:solidFill>
                            <a:schemeClr val="bg1">
                              <a:lumMod val="50000"/>
                            </a:schemeClr>
                          </a:solidFill>
                          <a:latin typeface="Neue Haas Grotesk Text Pro" panose="020B0504020202020204" pitchFamily="34" charset="0"/>
                        </a:rPr>
                        <a:t>not</a:t>
                      </a:r>
                      <a:r>
                        <a:rPr lang="en-US" sz="1100" b="0" dirty="0">
                          <a:solidFill>
                            <a:schemeClr val="bg1">
                              <a:lumMod val="50000"/>
                            </a:schemeClr>
                          </a:solidFill>
                          <a:latin typeface="Neue Haas Grotesk Text Pro" panose="020B0504020202020204" pitchFamily="34" charset="0"/>
                        </a:rPr>
                        <a:t> have been modified.</a:t>
                      </a:r>
                    </a:p>
                    <a:p>
                      <a:endParaRPr lang="en-US" sz="1100" b="0" dirty="0">
                        <a:solidFill>
                          <a:schemeClr val="bg1">
                            <a:lumMod val="50000"/>
                          </a:schemeClr>
                        </a:solidFill>
                        <a:latin typeface="Neue Haas Grotesk Text Pro" panose="020B05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bg1">
                              <a:lumMod val="50000"/>
                            </a:schemeClr>
                          </a:solidFill>
                          <a:latin typeface="Neue Haas Grotesk Text Pro" panose="020B0504020202020204" pitchFamily="34" charset="0"/>
                        </a:rPr>
                        <a:t>Increased probability and could have been modified (but wasn’t).</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100" b="0" i="1" u="sng" dirty="0">
                          <a:solidFill>
                            <a:schemeClr val="bg1">
                              <a:lumMod val="50000"/>
                            </a:schemeClr>
                          </a:solidFill>
                          <a:latin typeface="Neue Haas Grotesk Text Pro" panose="020B0504020202020204" pitchFamily="34" charset="0"/>
                        </a:rPr>
                        <a:t>Necessary </a:t>
                      </a:r>
                      <a:r>
                        <a:rPr lang="en-US" sz="1100" b="0" dirty="0">
                          <a:solidFill>
                            <a:schemeClr val="bg1">
                              <a:lumMod val="50000"/>
                            </a:schemeClr>
                          </a:solidFill>
                          <a:latin typeface="Neue Haas Grotesk Text Pro" panose="020B0504020202020204" pitchFamily="34" charset="0"/>
                        </a:rPr>
                        <a:t>for primary event to occur </a:t>
                      </a:r>
                      <a:r>
                        <a:rPr lang="en-US" sz="1100" b="0" u="sng" dirty="0">
                          <a:solidFill>
                            <a:schemeClr val="bg1">
                              <a:lumMod val="50000"/>
                            </a:schemeClr>
                          </a:solidFill>
                          <a:latin typeface="Neue Haas Grotesk Text Pro" panose="020B0504020202020204" pitchFamily="34" charset="0"/>
                        </a:rPr>
                        <a:t>and </a:t>
                      </a:r>
                      <a:r>
                        <a:rPr lang="en-US" sz="1100" b="0" dirty="0">
                          <a:solidFill>
                            <a:schemeClr val="bg1">
                              <a:lumMod val="50000"/>
                            </a:schemeClr>
                          </a:solidFill>
                          <a:latin typeface="Neue Haas Grotesk Text Pro" panose="020B0504020202020204" pitchFamily="34" charset="0"/>
                        </a:rPr>
                        <a:t>reasonable alternative exists.</a:t>
                      </a:r>
                    </a:p>
                    <a:p>
                      <a:endParaRPr lang="en-US" sz="1100" b="0" dirty="0">
                        <a:solidFill>
                          <a:schemeClr val="bg1">
                            <a:lumMod val="50000"/>
                          </a:schemeClr>
                        </a:solidFill>
                        <a:latin typeface="Neue Haas Grotesk Text Pro" panose="020B0504020202020204" pitchFamily="34" charset="0"/>
                      </a:endParaRPr>
                    </a:p>
                    <a:p>
                      <a:r>
                        <a:rPr lang="en-US" sz="1100" b="0" dirty="0">
                          <a:solidFill>
                            <a:schemeClr val="bg1">
                              <a:lumMod val="50000"/>
                            </a:schemeClr>
                          </a:solidFill>
                          <a:latin typeface="Neue Haas Grotesk Text Pro" panose="020B0504020202020204" pitchFamily="34" charset="0"/>
                        </a:rPr>
                        <a:t>Can cause primary event on its own.</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100" b="0" dirty="0">
                          <a:solidFill>
                            <a:schemeClr val="bg1">
                              <a:lumMod val="50000"/>
                            </a:schemeClr>
                          </a:solidFill>
                          <a:latin typeface="Neue Haas Grotesk Text Pro" panose="020B0504020202020204" pitchFamily="34" charset="0"/>
                        </a:rPr>
                        <a:t>The primary problem.</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100" b="0" dirty="0">
                          <a:solidFill>
                            <a:schemeClr val="bg1">
                              <a:lumMod val="50000"/>
                            </a:schemeClr>
                          </a:solidFill>
                          <a:latin typeface="Neue Haas Grotesk Text Pro" panose="020B0504020202020204" pitchFamily="34" charset="0"/>
                        </a:rPr>
                        <a:t>Signs, representations, other manifestations that </a:t>
                      </a:r>
                      <a:r>
                        <a:rPr lang="en-US" sz="1100" b="0" i="1" dirty="0">
                          <a:solidFill>
                            <a:schemeClr val="bg1">
                              <a:lumMod val="50000"/>
                            </a:schemeClr>
                          </a:solidFill>
                          <a:latin typeface="Neue Haas Grotesk Text Pro" panose="020B0504020202020204" pitchFamily="34" charset="0"/>
                        </a:rPr>
                        <a:t>aren’t </a:t>
                      </a:r>
                      <a:r>
                        <a:rPr lang="en-US" sz="1100" b="0" dirty="0">
                          <a:solidFill>
                            <a:schemeClr val="bg1">
                              <a:lumMod val="50000"/>
                            </a:schemeClr>
                          </a:solidFill>
                          <a:latin typeface="Neue Haas Grotesk Text Pro" panose="020B0504020202020204" pitchFamily="34" charset="0"/>
                        </a:rPr>
                        <a:t>problems. </a:t>
                      </a:r>
                    </a:p>
                    <a:p>
                      <a:endParaRPr lang="en-US" sz="1100" b="0" dirty="0">
                        <a:solidFill>
                          <a:schemeClr val="bg1">
                            <a:lumMod val="50000"/>
                          </a:schemeClr>
                        </a:solidFill>
                        <a:latin typeface="Neue Haas Grotesk Text Pro" panose="020B0504020202020204" pitchFamily="34" charset="0"/>
                      </a:endParaRPr>
                    </a:p>
                    <a:p>
                      <a:r>
                        <a:rPr lang="en-US" sz="1100" b="0" dirty="0">
                          <a:solidFill>
                            <a:schemeClr val="bg1">
                              <a:lumMod val="50000"/>
                            </a:schemeClr>
                          </a:solidFill>
                          <a:latin typeface="Neue Haas Grotesk Text Pro" panose="020B0504020202020204" pitchFamily="34" charset="0"/>
                        </a:rPr>
                        <a:t>Something that amplified the effect of the primary event.</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bg1">
                              <a:lumMod val="50000"/>
                            </a:schemeClr>
                          </a:solidFill>
                          <a:latin typeface="Neue Haas Grotesk Text Pro" panose="020B0504020202020204" pitchFamily="34" charset="0"/>
                        </a:rPr>
                        <a:t>Additional events enabled by the primary event. </a:t>
                      </a:r>
                    </a:p>
                  </a:txBody>
                  <a:tcPr>
                    <a:lnL w="12700" cmpd="sng">
                      <a:noFill/>
                    </a:lnL>
                    <a:lnR w="12700" cmpd="sng">
                      <a:noFill/>
                    </a:lnR>
                    <a:lnT w="12700" cap="flat" cmpd="sng" algn="ctr">
                      <a:solidFill>
                        <a:schemeClr val="bg1">
                          <a:lumMod val="6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90848013"/>
                  </a:ext>
                </a:extLst>
              </a:tr>
            </a:tbl>
          </a:graphicData>
        </a:graphic>
      </p:graphicFrame>
      <p:pic>
        <p:nvPicPr>
          <p:cNvPr id="8" name="Graphic 7">
            <a:extLst>
              <a:ext uri="{FF2B5EF4-FFF2-40B4-BE49-F238E27FC236}">
                <a16:creationId xmlns:a16="http://schemas.microsoft.com/office/drawing/2014/main" id="{FC277242-966A-2005-B867-B4A35E80C194}"/>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rcRect l="61066" t="62777" r="31142" b="31899"/>
          <a:stretch>
            <a:fillRect/>
          </a:stretch>
        </p:blipFill>
        <p:spPr>
          <a:xfrm>
            <a:off x="11536353" y="6488246"/>
            <a:ext cx="312748" cy="302235"/>
          </a:xfrm>
          <a:prstGeom prst="rect">
            <a:avLst/>
          </a:prstGeom>
        </p:spPr>
      </p:pic>
    </p:spTree>
    <p:extLst>
      <p:ext uri="{BB962C8B-B14F-4D97-AF65-F5344CB8AC3E}">
        <p14:creationId xmlns:p14="http://schemas.microsoft.com/office/powerpoint/2010/main" val="1796800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19417D"/>
            </a:gs>
            <a:gs pos="68000">
              <a:srgbClr val="345B93"/>
            </a:gs>
            <a:gs pos="36000">
              <a:srgbClr val="204983"/>
            </a:gs>
            <a:gs pos="100000">
              <a:srgbClr val="4C71A8"/>
            </a:gs>
          </a:gsLst>
          <a:lin ang="8100000" scaled="1"/>
          <a:tileRect/>
        </a:gra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E80A8CE2-1FCA-224A-AECE-ED5906DE6710}"/>
              </a:ext>
            </a:extLst>
          </p:cNvPr>
          <p:cNvSpPr>
            <a:spLocks noGrp="1"/>
          </p:cNvSpPr>
          <p:nvPr>
            <p:ph type="title"/>
          </p:nvPr>
        </p:nvSpPr>
        <p:spPr>
          <a:xfrm>
            <a:off x="185057" y="119856"/>
            <a:ext cx="10515600" cy="954202"/>
          </a:xfrm>
        </p:spPr>
        <p:txBody>
          <a:bodyPr>
            <a:normAutofit/>
          </a:bodyPr>
          <a:lstStyle/>
          <a:p>
            <a:r>
              <a:rPr lang="en-US" sz="2800" dirty="0">
                <a:solidFill>
                  <a:schemeClr val="bg1">
                    <a:lumMod val="65000"/>
                  </a:schemeClr>
                </a:solidFill>
                <a:latin typeface="Raleway" pitchFamily="2" charset="0"/>
              </a:rPr>
              <a:t>5. </a:t>
            </a:r>
            <a:r>
              <a:rPr lang="en-US" sz="3200" dirty="0">
                <a:solidFill>
                  <a:schemeClr val="bg1">
                    <a:lumMod val="65000"/>
                  </a:schemeClr>
                </a:solidFill>
                <a:latin typeface="Raleway" pitchFamily="2" charset="0"/>
              </a:rPr>
              <a:t>Continuous Improvement</a:t>
            </a:r>
          </a:p>
        </p:txBody>
      </p:sp>
      <p:sp>
        <p:nvSpPr>
          <p:cNvPr id="23" name="Content Placeholder 2">
            <a:extLst>
              <a:ext uri="{FF2B5EF4-FFF2-40B4-BE49-F238E27FC236}">
                <a16:creationId xmlns:a16="http://schemas.microsoft.com/office/drawing/2014/main" id="{65E089EF-6627-AE1F-8AE4-AB46AF89F507}"/>
              </a:ext>
            </a:extLst>
          </p:cNvPr>
          <p:cNvSpPr>
            <a:spLocks noGrp="1"/>
          </p:cNvSpPr>
          <p:nvPr>
            <p:ph idx="1"/>
          </p:nvPr>
        </p:nvSpPr>
        <p:spPr>
          <a:xfrm>
            <a:off x="713334" y="1577871"/>
            <a:ext cx="5528440" cy="3842267"/>
          </a:xfrm>
        </p:spPr>
        <p:txBody>
          <a:bodyPr>
            <a:normAutofit/>
          </a:bodyPr>
          <a:lstStyle/>
          <a:p>
            <a:pPr marL="0" indent="0">
              <a:buNone/>
            </a:pPr>
            <a:r>
              <a:rPr lang="en-US" sz="2400" dirty="0">
                <a:solidFill>
                  <a:srgbClr val="FF9933"/>
                </a:solidFill>
                <a:latin typeface="Raleway" pitchFamily="2" charset="0"/>
              </a:rPr>
              <a:t>Potential improvement: </a:t>
            </a:r>
          </a:p>
          <a:p>
            <a:pPr marL="0" indent="0">
              <a:buNone/>
            </a:pPr>
            <a:r>
              <a:rPr lang="en-US" sz="2400" i="1" dirty="0">
                <a:solidFill>
                  <a:schemeClr val="bg1">
                    <a:lumMod val="95000"/>
                  </a:schemeClr>
                </a:solidFill>
                <a:latin typeface="Raleway" pitchFamily="2" charset="0"/>
              </a:rPr>
              <a:t>action statement / proposal to reduce similar complications in the future</a:t>
            </a:r>
            <a:endParaRPr lang="en-US" sz="2400" dirty="0">
              <a:solidFill>
                <a:schemeClr val="bg1">
                  <a:lumMod val="95000"/>
                </a:schemeClr>
              </a:solidFill>
              <a:latin typeface="Raleway" pitchFamily="2" charset="0"/>
            </a:endParaRPr>
          </a:p>
          <a:p>
            <a:pPr marL="0" indent="0">
              <a:buNone/>
            </a:pPr>
            <a:endParaRPr lang="en-US" sz="2400" dirty="0">
              <a:solidFill>
                <a:schemeClr val="bg1">
                  <a:lumMod val="95000"/>
                </a:schemeClr>
              </a:solidFill>
              <a:latin typeface="Raleway" pitchFamily="2" charset="0"/>
            </a:endParaRPr>
          </a:p>
          <a:p>
            <a:pPr marL="0" indent="0">
              <a:buNone/>
            </a:pPr>
            <a:r>
              <a:rPr lang="en-US" sz="1800" dirty="0">
                <a:solidFill>
                  <a:schemeClr val="bg1">
                    <a:lumMod val="95000"/>
                  </a:schemeClr>
                </a:solidFill>
                <a:latin typeface="Raleway" pitchFamily="2" charset="0"/>
              </a:rPr>
              <a:t>Support for this statement:</a:t>
            </a:r>
          </a:p>
          <a:p>
            <a:pPr marL="342900" indent="-342900">
              <a:buAutoNum type="arabicPeriod"/>
            </a:pPr>
            <a:r>
              <a:rPr lang="en-US" sz="1800" dirty="0">
                <a:solidFill>
                  <a:schemeClr val="bg1">
                    <a:lumMod val="95000"/>
                  </a:schemeClr>
                </a:solidFill>
                <a:latin typeface="Raleway" pitchFamily="2" charset="0"/>
              </a:rPr>
              <a:t>Text</a:t>
            </a:r>
          </a:p>
          <a:p>
            <a:pPr marL="342900" indent="-342900">
              <a:buAutoNum type="arabicPeriod"/>
            </a:pPr>
            <a:r>
              <a:rPr lang="en-US" sz="1800" dirty="0">
                <a:solidFill>
                  <a:schemeClr val="bg1">
                    <a:lumMod val="95000"/>
                  </a:schemeClr>
                </a:solidFill>
                <a:latin typeface="Raleway" pitchFamily="2" charset="0"/>
              </a:rPr>
              <a:t>text</a:t>
            </a:r>
          </a:p>
        </p:txBody>
      </p:sp>
      <p:sp>
        <p:nvSpPr>
          <p:cNvPr id="2" name="Rectangle 1">
            <a:extLst>
              <a:ext uri="{FF2B5EF4-FFF2-40B4-BE49-F238E27FC236}">
                <a16:creationId xmlns:a16="http://schemas.microsoft.com/office/drawing/2014/main" id="{68D4BA8C-6176-507C-B248-1C9D902ACBDF}"/>
              </a:ext>
            </a:extLst>
          </p:cNvPr>
          <p:cNvSpPr/>
          <p:nvPr/>
        </p:nvSpPr>
        <p:spPr>
          <a:xfrm>
            <a:off x="6698973" y="1577872"/>
            <a:ext cx="4512365" cy="3988041"/>
          </a:xfrm>
          <a:prstGeom prst="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0B376D6-4BD7-38FF-0F7C-AB7E28A5E14B}"/>
              </a:ext>
            </a:extLst>
          </p:cNvPr>
          <p:cNvSpPr txBox="1"/>
          <p:nvPr/>
        </p:nvSpPr>
        <p:spPr>
          <a:xfrm>
            <a:off x="567793" y="6158898"/>
            <a:ext cx="10774017" cy="276999"/>
          </a:xfrm>
          <a:prstGeom prst="rect">
            <a:avLst/>
          </a:prstGeom>
          <a:noFill/>
        </p:spPr>
        <p:txBody>
          <a:bodyPr wrap="square" rtlCol="0">
            <a:spAutoFit/>
          </a:bodyPr>
          <a:lstStyle/>
          <a:p>
            <a:pPr algn="ctr"/>
            <a:r>
              <a:rPr lang="en-US" sz="1200" dirty="0">
                <a:solidFill>
                  <a:schemeClr val="bg1">
                    <a:lumMod val="75000"/>
                  </a:schemeClr>
                </a:solidFill>
                <a:latin typeface="Arial" panose="020B0604020202020204" pitchFamily="34" charset="0"/>
                <a:cs typeface="Arial" panose="020B0604020202020204" pitchFamily="34" charset="0"/>
              </a:rPr>
              <a:t>this is where you put the citation in Vancouver format.</a:t>
            </a:r>
          </a:p>
        </p:txBody>
      </p:sp>
      <p:sp>
        <p:nvSpPr>
          <p:cNvPr id="4" name="TextBox 3">
            <a:extLst>
              <a:ext uri="{FF2B5EF4-FFF2-40B4-BE49-F238E27FC236}">
                <a16:creationId xmlns:a16="http://schemas.microsoft.com/office/drawing/2014/main" id="{61CB49F3-EAEE-1060-9029-44E507B7A2A1}"/>
              </a:ext>
            </a:extLst>
          </p:cNvPr>
          <p:cNvSpPr txBox="1"/>
          <p:nvPr/>
        </p:nvSpPr>
        <p:spPr>
          <a:xfrm>
            <a:off x="7326401" y="2782669"/>
            <a:ext cx="3257510" cy="646331"/>
          </a:xfrm>
          <a:prstGeom prst="rect">
            <a:avLst/>
          </a:prstGeom>
          <a:noFill/>
        </p:spPr>
        <p:txBody>
          <a:bodyPr wrap="square" rtlCol="0">
            <a:spAutoFit/>
          </a:bodyPr>
          <a:lstStyle/>
          <a:p>
            <a:r>
              <a:rPr lang="en-US" dirty="0"/>
              <a:t>(relevant figure or image from chosen publication here)</a:t>
            </a:r>
          </a:p>
        </p:txBody>
      </p:sp>
    </p:spTree>
    <p:extLst>
      <p:ext uri="{BB962C8B-B14F-4D97-AF65-F5344CB8AC3E}">
        <p14:creationId xmlns:p14="http://schemas.microsoft.com/office/powerpoint/2010/main" val="192646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685</TotalTime>
  <Words>1488</Words>
  <Application>Microsoft Office PowerPoint</Application>
  <PresentationFormat>Widescreen</PresentationFormat>
  <Paragraphs>162</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Calibri Light</vt:lpstr>
      <vt:lpstr>Neue Haas Grotesk Text Pro</vt:lpstr>
      <vt:lpstr>Raleway</vt:lpstr>
      <vt:lpstr>Office Theme</vt:lpstr>
      <vt:lpstr>___(complication[s]) after ____(procedure)</vt:lpstr>
      <vt:lpstr>1. Presentation</vt:lpstr>
      <vt:lpstr>2. Imaging</vt:lpstr>
      <vt:lpstr>3. Timeline of observed events</vt:lpstr>
      <vt:lpstr>4. Causal pathway</vt:lpstr>
      <vt:lpstr>5. Continuous Improvement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Vascular Surgery M&amp;M</dc:title>
  <dc:creator>Choi, Justin</dc:creator>
  <cp:lastModifiedBy>Barshes, Neal Ryan</cp:lastModifiedBy>
  <cp:revision>5</cp:revision>
  <dcterms:created xsi:type="dcterms:W3CDTF">2021-09-03T16:20:39Z</dcterms:created>
  <dcterms:modified xsi:type="dcterms:W3CDTF">2026-06-22T20:52:11Z</dcterms:modified>
</cp:coreProperties>
</file>